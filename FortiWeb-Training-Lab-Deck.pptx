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4"/>
  </p:sldMasterIdLst>
  <p:notesMasterIdLst>
    <p:notesMasterId r:id="rId3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10"/>
    <p:sldId id="282" r:id="rId9"/>
    <p:sldId id="283" r:id="rId8"/>
    <p:sldId id="284" r:id="rId7"/>
    <p:sldId id="285" r:id="rId6"/>
    <p:sldId id="286" r:id="rId5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BCF619-FCC1-A741-9389-A2A12DE886D1}">
          <p14:sldIdLst>
            <p14:sldId id="2076136842"/>
            <p14:sldId id="383"/>
            <p14:sldId id="261"/>
            <p14:sldId id="2147473159"/>
            <p14:sldId id="2147473059"/>
            <p14:sldId id="2147480554"/>
            <p14:sldId id="2147483450"/>
            <p14:sldId id="2147481209"/>
            <p14:sldId id="2147481212"/>
            <p14:sldId id="2147473785"/>
            <p14:sldId id="2147473786"/>
            <p14:sldId id="2147483453"/>
            <p14:sldId id="2147483520"/>
            <p14:sldId id="2147481211"/>
            <p14:sldId id="1434"/>
            <p14:sldId id="2147480134"/>
            <p14:sldId id="2147483404"/>
            <p14:sldId id="2147483441"/>
            <p14:sldId id="2147483448"/>
            <p14:sldId id="2147481208"/>
            <p14:sldId id="2147472377"/>
            <p14:sldId id="2147472141"/>
            <p14:sldId id="2147481207"/>
            <p14:sldId id="2147472148"/>
            <p14:sldId id="2147473794"/>
            <p14:sldId id="2147473455"/>
            <p14:sldId id="2147483451"/>
            <p14:sldId id="2147483452"/>
            <p14:sldId id="398"/>
            <p14:sldId id="2147483449"/>
            <p14:sldId id="2147483549"/>
          </p14:sldIdLst>
        </p14:section>
      </p14:sectionLst>
    </p:ext>
    <p:ext uri="{EFAFB233-063F-42B5-8137-9DF3F51BA10A}">
      <p15:sldGuideLst xmlns:p15="http://schemas.microsoft.com/office/powerpoint/2012/main">
        <p15:guide id="1" pos="3727" userDrawn="1">
          <p15:clr>
            <a:srgbClr val="A4A3A4"/>
          </p15:clr>
        </p15:guide>
        <p15:guide id="2" orient="horz" pos="2069" userDrawn="1">
          <p15:clr>
            <a:srgbClr val="A4A3A4"/>
          </p15:clr>
        </p15:guide>
        <p15:guide id="3" orient="horz" pos="2296" userDrawn="1">
          <p15:clr>
            <a:srgbClr val="A4A3A4"/>
          </p15:clr>
        </p15:guide>
        <p15:guide id="4" orient="horz" pos="3543" userDrawn="1">
          <p15:clr>
            <a:srgbClr val="A4A3A4"/>
          </p15:clr>
        </p15:guide>
        <p15:guide id="5" pos="6131" userDrawn="1">
          <p15:clr>
            <a:srgbClr val="A4A3A4"/>
          </p15:clr>
        </p15:guide>
        <p15:guide id="6" pos="824" userDrawn="1">
          <p15:clr>
            <a:srgbClr val="A4A3A4"/>
          </p15:clr>
        </p15:guide>
        <p15:guide id="7" pos="3953" userDrawn="1">
          <p15:clr>
            <a:srgbClr val="A4A3A4"/>
          </p15:clr>
        </p15:guide>
        <p15:guide id="8" pos="5292" userDrawn="1">
          <p15:clr>
            <a:srgbClr val="A4A3A4"/>
          </p15:clr>
        </p15:guide>
        <p15:guide id="9" pos="5541" userDrawn="1">
          <p15:clr>
            <a:srgbClr val="A4A3A4"/>
          </p15:clr>
        </p15:guide>
        <p15:guide id="10" pos="57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1E19"/>
    <a:srgbClr val="898989"/>
    <a:srgbClr val="5D5BFF"/>
    <a:srgbClr val="005493"/>
    <a:srgbClr val="646464"/>
    <a:srgbClr val="C8C8C8"/>
    <a:srgbClr val="969696"/>
    <a:srgbClr val="3CB17E"/>
    <a:srgbClr val="75787B"/>
    <a:srgbClr val="A2B2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DEB17-37DE-F64A-87DE-0CEFEF7E6A80}" v="2" dt="2026-05-19T18:12:11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8"/>
    <p:restoredTop sz="94660"/>
  </p:normalViewPr>
  <p:slideViewPr>
    <p:cSldViewPr snapToGrid="0">
      <p:cViewPr varScale="1">
        <p:scale>
          <a:sx n="118" d="100"/>
          <a:sy n="118" d="100"/>
        </p:scale>
        <p:origin x="744" y="208"/>
      </p:cViewPr>
      <p:guideLst>
        <p:guide pos="3727"/>
        <p:guide orient="horz" pos="2069"/>
        <p:guide orient="horz" pos="2296"/>
        <p:guide orient="horz" pos="3543"/>
        <p:guide pos="6131"/>
        <p:guide pos="824"/>
        <p:guide pos="3953"/>
        <p:guide pos="5292"/>
        <p:guide pos="5541"/>
        <p:guide pos="57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1.xml"/><Relationship Id="rId6" Type="http://schemas.openxmlformats.org/officeDocument/2006/relationships/slide" Target="slides/slide30.xml"/><Relationship Id="rId7" Type="http://schemas.openxmlformats.org/officeDocument/2006/relationships/slide" Target="slides/slide29.xml"/><Relationship Id="rId8" Type="http://schemas.openxmlformats.org/officeDocument/2006/relationships/slide" Target="slides/slide28.xml"/><Relationship Id="rId9" Type="http://schemas.openxmlformats.org/officeDocument/2006/relationships/slide" Target="slides/slide27.xml"/><Relationship Id="rId10" Type="http://schemas.openxmlformats.org/officeDocument/2006/relationships/slide" Target="slides/slide26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5/10/relationships/revisionInfo" Target="revisionInfo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2612B67-A16C-4DC1-A008-C3D499B0FCFF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58115F04-FA96-4F4F-8589-00A5965DC7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1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participants. This lab is a hands-on walkthrough of FortiWeb protecting web apps, APIs, and MCP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lab movements. Emphasize that Ch 2 is review-only and Ch 8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Allow 40 minutes for Azure provisioning plus 25–40 minutes for Terraform.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traffic path: student → Guacamole → FortiGate → FortiWeb → Docker apps (Juice Shop, DVWA, PetStore, MCP).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have students change VS, pools, certificates, or routing unless you explicitly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filter Sub Type = SQL Injection, open one Directory Traversal event, and point out Analyze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HMM models URLs, methods, and parameter patterns. FortiGuard SVM models decide attack vs benign anomaly.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standardizes how AI apps call tools over Streamable HTTP / SSE JSON-RPC.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the GitHub Pages lab guide for step-by-step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5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84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04">
          <p15:clr>
            <a:srgbClr val="FBAE40"/>
          </p15:clr>
        </p15:guide>
        <p15:guide id="2" pos="456">
          <p15:clr>
            <a:srgbClr val="FBAE40"/>
          </p15:clr>
        </p15:guide>
        <p15:guide id="3" pos="114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9">
            <a:extLst>
              <a:ext uri="{FF2B5EF4-FFF2-40B4-BE49-F238E27FC236}">
                <a16:creationId xmlns:a16="http://schemas.microsoft.com/office/drawing/2014/main" id="{AD019AD4-02C1-CFD9-6AC6-845816197DB9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979093" y="-1"/>
            <a:ext cx="6870007" cy="4700511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1DF4850B-3527-BBF9-D970-EEF87923EA97}"/>
              </a:ext>
            </a:extLst>
          </p:cNvPr>
          <p:cNvSpPr/>
          <p:nvPr userDrawn="1"/>
        </p:nvSpPr>
        <p:spPr>
          <a:xfrm>
            <a:off x="10662196" y="5401650"/>
            <a:ext cx="1057043" cy="1445343"/>
          </a:xfrm>
          <a:prstGeom prst="rect">
            <a:avLst/>
          </a:prstGeom>
          <a:solidFill>
            <a:schemeClr val="tx2">
              <a:alpha val="1991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70EBCF-B9E5-825C-D6C1-6E89718B62D8}"/>
              </a:ext>
            </a:extLst>
          </p:cNvPr>
          <p:cNvSpPr/>
          <p:nvPr userDrawn="1"/>
        </p:nvSpPr>
        <p:spPr>
          <a:xfrm>
            <a:off x="11589378" y="4933196"/>
            <a:ext cx="259722" cy="1053721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5E1529A-FDBB-3941-76E4-A90DCC5B6318}"/>
              </a:ext>
            </a:extLst>
          </p:cNvPr>
          <p:cNvSpPr/>
          <p:nvPr userDrawn="1"/>
        </p:nvSpPr>
        <p:spPr>
          <a:xfrm>
            <a:off x="8475659" y="1422950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DE265B11-99EE-E38D-EBA5-2B829532BF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2" t="4" r="40848" b="66110"/>
          <a:stretch>
            <a:fillRect/>
          </a:stretch>
        </p:blipFill>
        <p:spPr>
          <a:xfrm>
            <a:off x="8546234" y="5009925"/>
            <a:ext cx="2518921" cy="983579"/>
          </a:xfrm>
          <a:custGeom>
            <a:avLst/>
            <a:gdLst>
              <a:gd name="connsiteX0" fmla="*/ 0 w 48005999"/>
              <a:gd name="connsiteY0" fmla="*/ 0 h 18745200"/>
              <a:gd name="connsiteX1" fmla="*/ 48005999 w 48005999"/>
              <a:gd name="connsiteY1" fmla="*/ 0 h 18745200"/>
              <a:gd name="connsiteX2" fmla="*/ 48005999 w 48005999"/>
              <a:gd name="connsiteY2" fmla="*/ 18745200 h 18745200"/>
              <a:gd name="connsiteX3" fmla="*/ 0 w 48005999"/>
              <a:gd name="connsiteY3" fmla="*/ 18745200 h 1874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05999" h="18745200">
                <a:moveTo>
                  <a:pt x="0" y="0"/>
                </a:moveTo>
                <a:lnTo>
                  <a:pt x="48005999" y="0"/>
                </a:lnTo>
                <a:lnTo>
                  <a:pt x="48005999" y="18745200"/>
                </a:lnTo>
                <a:lnTo>
                  <a:pt x="0" y="18745200"/>
                </a:lnTo>
                <a:close/>
              </a:path>
            </a:pathLst>
          </a:cu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1C45C5E8-81F5-C028-878C-58998E1C48BD}"/>
              </a:ext>
            </a:extLst>
          </p:cNvPr>
          <p:cNvSpPr/>
          <p:nvPr userDrawn="1"/>
        </p:nvSpPr>
        <p:spPr>
          <a:xfrm>
            <a:off x="0" y="501387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2614FB3-E33C-4CDC-BB42-901BA7BE4BB8}"/>
              </a:ext>
            </a:extLst>
          </p:cNvPr>
          <p:cNvSpPr/>
          <p:nvPr userDrawn="1"/>
        </p:nvSpPr>
        <p:spPr>
          <a:xfrm>
            <a:off x="1560733" y="6139133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aphic 10">
            <a:extLst>
              <a:ext uri="{FF2B5EF4-FFF2-40B4-BE49-F238E27FC236}">
                <a16:creationId xmlns:a16="http://schemas.microsoft.com/office/drawing/2014/main" id="{FD56FD18-394A-F4B5-02F7-626E8C0D566E}"/>
              </a:ext>
            </a:extLst>
          </p:cNvPr>
          <p:cNvGrpSpPr/>
          <p:nvPr userDrawn="1"/>
        </p:nvGrpSpPr>
        <p:grpSpPr>
          <a:xfrm>
            <a:off x="1560733" y="2668420"/>
            <a:ext cx="2580569" cy="288110"/>
            <a:chOff x="708891" y="4649173"/>
            <a:chExt cx="11357397" cy="1268009"/>
          </a:xfrm>
        </p:grpSpPr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661BA68-D2B6-611A-9F2E-E13387DA86CC}"/>
                </a:ext>
              </a:extLst>
            </p:cNvPr>
            <p:cNvSpPr/>
            <p:nvPr/>
          </p:nvSpPr>
          <p:spPr>
            <a:xfrm>
              <a:off x="708891" y="4649173"/>
              <a:ext cx="11357397" cy="1268008"/>
            </a:xfrm>
            <a:custGeom>
              <a:avLst/>
              <a:gdLst>
                <a:gd name="connsiteX0" fmla="*/ 6512360 w 11357397"/>
                <a:gd name="connsiteY0" fmla="*/ 271549 h 1268008"/>
                <a:gd name="connsiteX1" fmla="*/ 6512360 w 11357397"/>
                <a:gd name="connsiteY1" fmla="*/ 0 h 1268008"/>
                <a:gd name="connsiteX2" fmla="*/ 6824335 w 11357397"/>
                <a:gd name="connsiteY2" fmla="*/ 0 h 1268008"/>
                <a:gd name="connsiteX3" fmla="*/ 6824335 w 11357397"/>
                <a:gd name="connsiteY3" fmla="*/ 1268009 h 1268008"/>
                <a:gd name="connsiteX4" fmla="*/ 6512360 w 11357397"/>
                <a:gd name="connsiteY4" fmla="*/ 1268009 h 1268008"/>
                <a:gd name="connsiteX5" fmla="*/ 5136748 w 11357397"/>
                <a:gd name="connsiteY5" fmla="*/ 272484 h 1268008"/>
                <a:gd name="connsiteX6" fmla="*/ 5466631 w 11357397"/>
                <a:gd name="connsiteY6" fmla="*/ 272484 h 1268008"/>
                <a:gd name="connsiteX7" fmla="*/ 5466631 w 11357397"/>
                <a:gd name="connsiteY7" fmla="*/ 1268009 h 1268008"/>
                <a:gd name="connsiteX8" fmla="*/ 5778606 w 11357397"/>
                <a:gd name="connsiteY8" fmla="*/ 1268009 h 1268008"/>
                <a:gd name="connsiteX9" fmla="*/ 5778606 w 11357397"/>
                <a:gd name="connsiteY9" fmla="*/ 272484 h 1268008"/>
                <a:gd name="connsiteX10" fmla="*/ 6344119 w 11357397"/>
                <a:gd name="connsiteY10" fmla="*/ 272484 h 1268008"/>
                <a:gd name="connsiteX11" fmla="*/ 6344119 w 11357397"/>
                <a:gd name="connsiteY11" fmla="*/ 0 h 1268008"/>
                <a:gd name="connsiteX12" fmla="*/ 5136748 w 11357397"/>
                <a:gd name="connsiteY12" fmla="*/ 0 h 1268008"/>
                <a:gd name="connsiteX13" fmla="*/ 10149083 w 11357397"/>
                <a:gd name="connsiteY13" fmla="*/ 0 h 1268008"/>
                <a:gd name="connsiteX14" fmla="*/ 10149083 w 11357397"/>
                <a:gd name="connsiteY14" fmla="*/ 272484 h 1268008"/>
                <a:gd name="connsiteX15" fmla="*/ 10478966 w 11357397"/>
                <a:gd name="connsiteY15" fmla="*/ 272484 h 1268008"/>
                <a:gd name="connsiteX16" fmla="*/ 10478966 w 11357397"/>
                <a:gd name="connsiteY16" fmla="*/ 1268009 h 1268008"/>
                <a:gd name="connsiteX17" fmla="*/ 10791883 w 11357397"/>
                <a:gd name="connsiteY17" fmla="*/ 1268009 h 1268008"/>
                <a:gd name="connsiteX18" fmla="*/ 10791883 w 11357397"/>
                <a:gd name="connsiteY18" fmla="*/ 272484 h 1268008"/>
                <a:gd name="connsiteX19" fmla="*/ 11357397 w 11357397"/>
                <a:gd name="connsiteY19" fmla="*/ 272484 h 1268008"/>
                <a:gd name="connsiteX20" fmla="*/ 11357397 w 11357397"/>
                <a:gd name="connsiteY20" fmla="*/ 0 h 1268008"/>
                <a:gd name="connsiteX21" fmla="*/ 0 w 11357397"/>
                <a:gd name="connsiteY21" fmla="*/ 1268009 h 1268008"/>
                <a:gd name="connsiteX22" fmla="*/ 311975 w 11357397"/>
                <a:gd name="connsiteY22" fmla="*/ 1268009 h 1268008"/>
                <a:gd name="connsiteX23" fmla="*/ 311975 w 11357397"/>
                <a:gd name="connsiteY23" fmla="*/ 800626 h 1268008"/>
                <a:gd name="connsiteX24" fmla="*/ 1199360 w 11357397"/>
                <a:gd name="connsiteY24" fmla="*/ 800626 h 1268008"/>
                <a:gd name="connsiteX25" fmla="*/ 1199360 w 11357397"/>
                <a:gd name="connsiteY25" fmla="*/ 526740 h 1268008"/>
                <a:gd name="connsiteX26" fmla="*/ 311975 w 11357397"/>
                <a:gd name="connsiteY26" fmla="*/ 526740 h 1268008"/>
                <a:gd name="connsiteX27" fmla="*/ 311975 w 11357397"/>
                <a:gd name="connsiteY27" fmla="*/ 272484 h 1268008"/>
                <a:gd name="connsiteX28" fmla="*/ 1352049 w 11357397"/>
                <a:gd name="connsiteY28" fmla="*/ 272484 h 1268008"/>
                <a:gd name="connsiteX29" fmla="*/ 1352049 w 11357397"/>
                <a:gd name="connsiteY29" fmla="*/ 0 h 1268008"/>
                <a:gd name="connsiteX30" fmla="*/ 0 w 11357397"/>
                <a:gd name="connsiteY30" fmla="*/ 0 h 1268008"/>
                <a:gd name="connsiteX31" fmla="*/ 8718334 w 11357397"/>
                <a:gd name="connsiteY31" fmla="*/ 1268009 h 1268008"/>
                <a:gd name="connsiteX32" fmla="*/ 9994038 w 11357397"/>
                <a:gd name="connsiteY32" fmla="*/ 1268009 h 1268008"/>
                <a:gd name="connsiteX33" fmla="*/ 9994038 w 11357397"/>
                <a:gd name="connsiteY33" fmla="*/ 995992 h 1268008"/>
                <a:gd name="connsiteX34" fmla="*/ 9030780 w 11357397"/>
                <a:gd name="connsiteY34" fmla="*/ 995992 h 1268008"/>
                <a:gd name="connsiteX35" fmla="*/ 9030780 w 11357397"/>
                <a:gd name="connsiteY35" fmla="*/ 770247 h 1268008"/>
                <a:gd name="connsiteX36" fmla="*/ 9807419 w 11357397"/>
                <a:gd name="connsiteY36" fmla="*/ 770247 h 1268008"/>
                <a:gd name="connsiteX37" fmla="*/ 9807419 w 11357397"/>
                <a:gd name="connsiteY37" fmla="*/ 497762 h 1268008"/>
                <a:gd name="connsiteX38" fmla="*/ 9030780 w 11357397"/>
                <a:gd name="connsiteY38" fmla="*/ 497762 h 1268008"/>
                <a:gd name="connsiteX39" fmla="*/ 9030780 w 11357397"/>
                <a:gd name="connsiteY39" fmla="*/ 272484 h 1268008"/>
                <a:gd name="connsiteX40" fmla="*/ 9977544 w 11357397"/>
                <a:gd name="connsiteY40" fmla="*/ 272484 h 1268008"/>
                <a:gd name="connsiteX41" fmla="*/ 9977544 w 11357397"/>
                <a:gd name="connsiteY41" fmla="*/ 0 h 1268008"/>
                <a:gd name="connsiteX42" fmla="*/ 8718334 w 11357397"/>
                <a:gd name="connsiteY42" fmla="*/ 0 h 1268008"/>
                <a:gd name="connsiteX43" fmla="*/ 8116062 w 11357397"/>
                <a:gd name="connsiteY43" fmla="*/ 0 h 1268008"/>
                <a:gd name="connsiteX44" fmla="*/ 7065620 w 11357397"/>
                <a:gd name="connsiteY44" fmla="*/ 0 h 1268008"/>
                <a:gd name="connsiteX45" fmla="*/ 7065620 w 11357397"/>
                <a:gd name="connsiteY45" fmla="*/ 1268009 h 1268008"/>
                <a:gd name="connsiteX46" fmla="*/ 7378067 w 11357397"/>
                <a:gd name="connsiteY46" fmla="*/ 1268009 h 1268008"/>
                <a:gd name="connsiteX47" fmla="*/ 7378067 w 11357397"/>
                <a:gd name="connsiteY47" fmla="*/ 272484 h 1268008"/>
                <a:gd name="connsiteX48" fmla="*/ 8078832 w 11357397"/>
                <a:gd name="connsiteY48" fmla="*/ 272484 h 1268008"/>
                <a:gd name="connsiteX49" fmla="*/ 8165073 w 11357397"/>
                <a:gd name="connsiteY49" fmla="*/ 358482 h 1268008"/>
                <a:gd name="connsiteX50" fmla="*/ 8165073 w 11357397"/>
                <a:gd name="connsiteY50" fmla="*/ 1268009 h 1268008"/>
                <a:gd name="connsiteX51" fmla="*/ 8477519 w 11357397"/>
                <a:gd name="connsiteY51" fmla="*/ 1268009 h 1268008"/>
                <a:gd name="connsiteX52" fmla="*/ 8477519 w 11357397"/>
                <a:gd name="connsiteY52" fmla="*/ 358482 h 1268008"/>
                <a:gd name="connsiteX53" fmla="*/ 8116062 w 11357397"/>
                <a:gd name="connsiteY53" fmla="*/ 0 h 1268008"/>
                <a:gd name="connsiteX54" fmla="*/ 4686694 w 11357397"/>
                <a:gd name="connsiteY54" fmla="*/ 341657 h 1268008"/>
                <a:gd name="connsiteX55" fmla="*/ 4618361 w 11357397"/>
                <a:gd name="connsiteY55" fmla="*/ 271549 h 1268008"/>
                <a:gd name="connsiteX56" fmla="*/ 3899216 w 11357397"/>
                <a:gd name="connsiteY56" fmla="*/ 271549 h 1268008"/>
                <a:gd name="connsiteX57" fmla="*/ 3899216 w 11357397"/>
                <a:gd name="connsiteY57" fmla="*/ 525805 h 1268008"/>
                <a:gd name="connsiteX58" fmla="*/ 4618361 w 11357397"/>
                <a:gd name="connsiteY58" fmla="*/ 525805 h 1268008"/>
                <a:gd name="connsiteX59" fmla="*/ 4689050 w 11357397"/>
                <a:gd name="connsiteY59" fmla="*/ 455698 h 1268008"/>
                <a:gd name="connsiteX60" fmla="*/ 4654648 w 11357397"/>
                <a:gd name="connsiteY60" fmla="*/ 0 h 1268008"/>
                <a:gd name="connsiteX61" fmla="*/ 4998669 w 11357397"/>
                <a:gd name="connsiteY61" fmla="*/ 341189 h 1268008"/>
                <a:gd name="connsiteX62" fmla="*/ 4998669 w 11357397"/>
                <a:gd name="connsiteY62" fmla="*/ 341657 h 1268008"/>
                <a:gd name="connsiteX63" fmla="*/ 4998669 w 11357397"/>
                <a:gd name="connsiteY63" fmla="*/ 456633 h 1268008"/>
                <a:gd name="connsiteX64" fmla="*/ 4888865 w 11357397"/>
                <a:gd name="connsiteY64" fmla="*/ 706683 h 1268008"/>
                <a:gd name="connsiteX65" fmla="*/ 4983117 w 11357397"/>
                <a:gd name="connsiteY65" fmla="*/ 864658 h 1268008"/>
                <a:gd name="connsiteX66" fmla="*/ 4983117 w 11357397"/>
                <a:gd name="connsiteY66" fmla="*/ 1268009 h 1268008"/>
                <a:gd name="connsiteX67" fmla="*/ 4669728 w 11357397"/>
                <a:gd name="connsiteY67" fmla="*/ 1268009 h 1268008"/>
                <a:gd name="connsiteX68" fmla="*/ 4669728 w 11357397"/>
                <a:gd name="connsiteY68" fmla="*/ 868397 h 1268008"/>
                <a:gd name="connsiteX69" fmla="*/ 4601867 w 11357397"/>
                <a:gd name="connsiteY69" fmla="*/ 798289 h 1268008"/>
                <a:gd name="connsiteX70" fmla="*/ 3899216 w 11357397"/>
                <a:gd name="connsiteY70" fmla="*/ 798289 h 1268008"/>
                <a:gd name="connsiteX71" fmla="*/ 3899216 w 11357397"/>
                <a:gd name="connsiteY71" fmla="*/ 1265672 h 1268008"/>
                <a:gd name="connsiteX72" fmla="*/ 3586770 w 11357397"/>
                <a:gd name="connsiteY72" fmla="*/ 1265672 h 1268008"/>
                <a:gd name="connsiteX73" fmla="*/ 3586770 w 11357397"/>
                <a:gd name="connsiteY73" fmla="*/ 0 h 1268008"/>
                <a:gd name="connsiteX74" fmla="*/ 4654648 w 11357397"/>
                <a:gd name="connsiteY74" fmla="*/ 0 h 126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1357397" h="1268008">
                  <a:moveTo>
                    <a:pt x="6512360" y="271549"/>
                  </a:moveTo>
                  <a:lnTo>
                    <a:pt x="6512360" y="0"/>
                  </a:lnTo>
                  <a:lnTo>
                    <a:pt x="6824335" y="0"/>
                  </a:lnTo>
                  <a:lnTo>
                    <a:pt x="6824335" y="1268009"/>
                  </a:lnTo>
                  <a:lnTo>
                    <a:pt x="6512360" y="1268009"/>
                  </a:lnTo>
                  <a:close/>
                  <a:moveTo>
                    <a:pt x="5136748" y="272484"/>
                  </a:moveTo>
                  <a:lnTo>
                    <a:pt x="5466631" y="272484"/>
                  </a:lnTo>
                  <a:lnTo>
                    <a:pt x="5466631" y="1268009"/>
                  </a:lnTo>
                  <a:lnTo>
                    <a:pt x="5778606" y="1268009"/>
                  </a:lnTo>
                  <a:lnTo>
                    <a:pt x="5778606" y="272484"/>
                  </a:lnTo>
                  <a:lnTo>
                    <a:pt x="6344119" y="272484"/>
                  </a:lnTo>
                  <a:lnTo>
                    <a:pt x="6344119" y="0"/>
                  </a:lnTo>
                  <a:lnTo>
                    <a:pt x="5136748" y="0"/>
                  </a:lnTo>
                  <a:close/>
                  <a:moveTo>
                    <a:pt x="10149083" y="0"/>
                  </a:moveTo>
                  <a:lnTo>
                    <a:pt x="10149083" y="272484"/>
                  </a:lnTo>
                  <a:lnTo>
                    <a:pt x="10478966" y="272484"/>
                  </a:lnTo>
                  <a:lnTo>
                    <a:pt x="10478966" y="1268009"/>
                  </a:lnTo>
                  <a:lnTo>
                    <a:pt x="10791883" y="1268009"/>
                  </a:lnTo>
                  <a:lnTo>
                    <a:pt x="10791883" y="272484"/>
                  </a:lnTo>
                  <a:lnTo>
                    <a:pt x="11357397" y="272484"/>
                  </a:lnTo>
                  <a:lnTo>
                    <a:pt x="11357397" y="0"/>
                  </a:lnTo>
                  <a:close/>
                  <a:moveTo>
                    <a:pt x="0" y="1268009"/>
                  </a:moveTo>
                  <a:lnTo>
                    <a:pt x="311975" y="1268009"/>
                  </a:lnTo>
                  <a:lnTo>
                    <a:pt x="311975" y="800626"/>
                  </a:lnTo>
                  <a:lnTo>
                    <a:pt x="1199360" y="800626"/>
                  </a:lnTo>
                  <a:lnTo>
                    <a:pt x="1199360" y="526740"/>
                  </a:lnTo>
                  <a:lnTo>
                    <a:pt x="311975" y="526740"/>
                  </a:lnTo>
                  <a:lnTo>
                    <a:pt x="311975" y="272484"/>
                  </a:lnTo>
                  <a:lnTo>
                    <a:pt x="1352049" y="272484"/>
                  </a:lnTo>
                  <a:lnTo>
                    <a:pt x="1352049" y="0"/>
                  </a:lnTo>
                  <a:lnTo>
                    <a:pt x="0" y="0"/>
                  </a:lnTo>
                  <a:close/>
                  <a:moveTo>
                    <a:pt x="8718334" y="1268009"/>
                  </a:moveTo>
                  <a:lnTo>
                    <a:pt x="9994038" y="1268009"/>
                  </a:lnTo>
                  <a:lnTo>
                    <a:pt x="9994038" y="995992"/>
                  </a:lnTo>
                  <a:lnTo>
                    <a:pt x="9030780" y="995992"/>
                  </a:lnTo>
                  <a:lnTo>
                    <a:pt x="9030780" y="770247"/>
                  </a:lnTo>
                  <a:lnTo>
                    <a:pt x="9807419" y="770247"/>
                  </a:lnTo>
                  <a:lnTo>
                    <a:pt x="9807419" y="497762"/>
                  </a:lnTo>
                  <a:lnTo>
                    <a:pt x="9030780" y="497762"/>
                  </a:lnTo>
                  <a:lnTo>
                    <a:pt x="9030780" y="272484"/>
                  </a:lnTo>
                  <a:lnTo>
                    <a:pt x="9977544" y="272484"/>
                  </a:lnTo>
                  <a:lnTo>
                    <a:pt x="9977544" y="0"/>
                  </a:lnTo>
                  <a:lnTo>
                    <a:pt x="8718334" y="0"/>
                  </a:lnTo>
                  <a:close/>
                  <a:moveTo>
                    <a:pt x="8116062" y="0"/>
                  </a:moveTo>
                  <a:lnTo>
                    <a:pt x="7065620" y="0"/>
                  </a:lnTo>
                  <a:lnTo>
                    <a:pt x="7065620" y="1268009"/>
                  </a:lnTo>
                  <a:lnTo>
                    <a:pt x="7378067" y="1268009"/>
                  </a:lnTo>
                  <a:lnTo>
                    <a:pt x="7378067" y="272484"/>
                  </a:lnTo>
                  <a:lnTo>
                    <a:pt x="8078832" y="272484"/>
                  </a:lnTo>
                  <a:cubicBezTo>
                    <a:pt x="8126524" y="272741"/>
                    <a:pt x="8165073" y="311169"/>
                    <a:pt x="8165073" y="358482"/>
                  </a:cubicBezTo>
                  <a:lnTo>
                    <a:pt x="8165073" y="1268009"/>
                  </a:lnTo>
                  <a:lnTo>
                    <a:pt x="8477519" y="1268009"/>
                  </a:lnTo>
                  <a:lnTo>
                    <a:pt x="8477519" y="358482"/>
                  </a:lnTo>
                  <a:cubicBezTo>
                    <a:pt x="8477237" y="160605"/>
                    <a:pt x="8315594" y="257"/>
                    <a:pt x="8116062" y="0"/>
                  </a:cubicBezTo>
                  <a:moveTo>
                    <a:pt x="4686694" y="341657"/>
                  </a:moveTo>
                  <a:cubicBezTo>
                    <a:pt x="4686713" y="303832"/>
                    <a:pt x="4656476" y="272810"/>
                    <a:pt x="4618361" y="271549"/>
                  </a:cubicBezTo>
                  <a:lnTo>
                    <a:pt x="3899216" y="271549"/>
                  </a:lnTo>
                  <a:lnTo>
                    <a:pt x="3899216" y="525805"/>
                  </a:lnTo>
                  <a:lnTo>
                    <a:pt x="4618361" y="525805"/>
                  </a:lnTo>
                  <a:cubicBezTo>
                    <a:pt x="4657400" y="525805"/>
                    <a:pt x="4689050" y="494416"/>
                    <a:pt x="4689050" y="455698"/>
                  </a:cubicBezTo>
                  <a:close/>
                  <a:moveTo>
                    <a:pt x="4654648" y="0"/>
                  </a:moveTo>
                  <a:cubicBezTo>
                    <a:pt x="4844661" y="0"/>
                    <a:pt x="4998669" y="152755"/>
                    <a:pt x="4998669" y="341189"/>
                  </a:cubicBezTo>
                  <a:cubicBezTo>
                    <a:pt x="4998669" y="341345"/>
                    <a:pt x="4998669" y="341501"/>
                    <a:pt x="4998669" y="341657"/>
                  </a:cubicBezTo>
                  <a:lnTo>
                    <a:pt x="4998669" y="456633"/>
                  </a:lnTo>
                  <a:cubicBezTo>
                    <a:pt x="4998810" y="551521"/>
                    <a:pt x="4959035" y="642165"/>
                    <a:pt x="4888865" y="706683"/>
                  </a:cubicBezTo>
                  <a:cubicBezTo>
                    <a:pt x="4946689" y="738666"/>
                    <a:pt x="4982693" y="799009"/>
                    <a:pt x="4983117" y="864658"/>
                  </a:cubicBezTo>
                  <a:lnTo>
                    <a:pt x="4983117" y="1268009"/>
                  </a:lnTo>
                  <a:lnTo>
                    <a:pt x="4669728" y="1268009"/>
                  </a:lnTo>
                  <a:lnTo>
                    <a:pt x="4669728" y="868397"/>
                  </a:lnTo>
                  <a:cubicBezTo>
                    <a:pt x="4669757" y="830749"/>
                    <a:pt x="4639799" y="799794"/>
                    <a:pt x="4601867" y="798289"/>
                  </a:cubicBezTo>
                  <a:lnTo>
                    <a:pt x="3899216" y="798289"/>
                  </a:lnTo>
                  <a:lnTo>
                    <a:pt x="3899216" y="1265672"/>
                  </a:lnTo>
                  <a:lnTo>
                    <a:pt x="3586770" y="1265672"/>
                  </a:lnTo>
                  <a:lnTo>
                    <a:pt x="3586770" y="0"/>
                  </a:lnTo>
                  <a:lnTo>
                    <a:pt x="4654648" y="0"/>
                  </a:lnTo>
                </a:path>
              </a:pathLst>
            </a:custGeom>
            <a:solidFill>
              <a:schemeClr val="bg1"/>
            </a:solidFill>
            <a:ln w="47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21EC5A8-A784-B5D9-2AEA-7BFAFB4CFDC0}"/>
                </a:ext>
              </a:extLst>
            </p:cNvPr>
            <p:cNvSpPr/>
            <p:nvPr/>
          </p:nvSpPr>
          <p:spPr>
            <a:xfrm>
              <a:off x="2221168" y="4649173"/>
              <a:ext cx="1833677" cy="1268009"/>
            </a:xfrm>
            <a:custGeom>
              <a:avLst/>
              <a:gdLst>
                <a:gd name="connsiteX0" fmla="*/ 1833678 w 1833677"/>
                <a:gd name="connsiteY0" fmla="*/ 469720 h 1268009"/>
                <a:gd name="connsiteX1" fmla="*/ 1833678 w 1833677"/>
                <a:gd name="connsiteY1" fmla="*/ 796888 h 1268009"/>
                <a:gd name="connsiteX2" fmla="*/ 1315290 w 1833677"/>
                <a:gd name="connsiteY2" fmla="*/ 796888 h 1268009"/>
                <a:gd name="connsiteX3" fmla="*/ 1315290 w 1833677"/>
                <a:gd name="connsiteY3" fmla="*/ 469720 h 1268009"/>
                <a:gd name="connsiteX4" fmla="*/ 1833678 w 1833677"/>
                <a:gd name="connsiteY4" fmla="*/ 469720 h 1268009"/>
                <a:gd name="connsiteX5" fmla="*/ 659295 w 1833677"/>
                <a:gd name="connsiteY5" fmla="*/ 1268009 h 1268009"/>
                <a:gd name="connsiteX6" fmla="*/ 1173912 w 1833677"/>
                <a:gd name="connsiteY6" fmla="*/ 1268009 h 1268009"/>
                <a:gd name="connsiteX7" fmla="*/ 1173912 w 1833677"/>
                <a:gd name="connsiteY7" fmla="*/ 940842 h 1268009"/>
                <a:gd name="connsiteX8" fmla="*/ 655524 w 1833677"/>
                <a:gd name="connsiteY8" fmla="*/ 940842 h 1268009"/>
                <a:gd name="connsiteX9" fmla="*/ 1833678 w 1833677"/>
                <a:gd name="connsiteY9" fmla="*/ 275756 h 1268009"/>
                <a:gd name="connsiteX10" fmla="*/ 1555633 w 1833677"/>
                <a:gd name="connsiteY10" fmla="*/ 0 h 1268009"/>
                <a:gd name="connsiteX11" fmla="*/ 1555162 w 1833677"/>
                <a:gd name="connsiteY11" fmla="*/ 0 h 1268009"/>
                <a:gd name="connsiteX12" fmla="*/ 1315290 w 1833677"/>
                <a:gd name="connsiteY12" fmla="*/ 0 h 1268009"/>
                <a:gd name="connsiteX13" fmla="*/ 1315290 w 1833677"/>
                <a:gd name="connsiteY13" fmla="*/ 327168 h 1268009"/>
                <a:gd name="connsiteX14" fmla="*/ 1833678 w 1833677"/>
                <a:gd name="connsiteY14" fmla="*/ 327168 h 1268009"/>
                <a:gd name="connsiteX15" fmla="*/ 659295 w 1833677"/>
                <a:gd name="connsiteY15" fmla="*/ 0 h 1268009"/>
                <a:gd name="connsiteX16" fmla="*/ 659295 w 1833677"/>
                <a:gd name="connsiteY16" fmla="*/ 327168 h 1268009"/>
                <a:gd name="connsiteX17" fmla="*/ 1173912 w 1833677"/>
                <a:gd name="connsiteY17" fmla="*/ 327168 h 1268009"/>
                <a:gd name="connsiteX18" fmla="*/ 1173912 w 1833677"/>
                <a:gd name="connsiteY18" fmla="*/ 0 h 1268009"/>
                <a:gd name="connsiteX19" fmla="*/ 655524 w 1833677"/>
                <a:gd name="connsiteY19" fmla="*/ 0 h 1268009"/>
                <a:gd name="connsiteX20" fmla="*/ 1885 w 1833677"/>
                <a:gd name="connsiteY20" fmla="*/ 469720 h 1268009"/>
                <a:gd name="connsiteX21" fmla="*/ 1885 w 1833677"/>
                <a:gd name="connsiteY21" fmla="*/ 469720 h 1268009"/>
                <a:gd name="connsiteX22" fmla="*/ 1885 w 1833677"/>
                <a:gd name="connsiteY22" fmla="*/ 796888 h 1268009"/>
                <a:gd name="connsiteX23" fmla="*/ 517916 w 1833677"/>
                <a:gd name="connsiteY23" fmla="*/ 796888 h 1268009"/>
                <a:gd name="connsiteX24" fmla="*/ 517916 w 1833677"/>
                <a:gd name="connsiteY24" fmla="*/ 469720 h 1268009"/>
                <a:gd name="connsiteX25" fmla="*/ 1315290 w 1833677"/>
                <a:gd name="connsiteY25" fmla="*/ 1268009 h 1268009"/>
                <a:gd name="connsiteX26" fmla="*/ 1553277 w 1833677"/>
                <a:gd name="connsiteY26" fmla="*/ 1268009 h 1268009"/>
                <a:gd name="connsiteX27" fmla="*/ 1831321 w 1833677"/>
                <a:gd name="connsiteY27" fmla="*/ 992254 h 1268009"/>
                <a:gd name="connsiteX28" fmla="*/ 1831321 w 1833677"/>
                <a:gd name="connsiteY28" fmla="*/ 938972 h 1268009"/>
                <a:gd name="connsiteX29" fmla="*/ 1315290 w 1833677"/>
                <a:gd name="connsiteY29" fmla="*/ 938972 h 1268009"/>
                <a:gd name="connsiteX30" fmla="*/ 0 w 1833677"/>
                <a:gd name="connsiteY30" fmla="*/ 992254 h 1268009"/>
                <a:gd name="connsiteX31" fmla="*/ 278044 w 1833677"/>
                <a:gd name="connsiteY31" fmla="*/ 1268009 h 1268009"/>
                <a:gd name="connsiteX32" fmla="*/ 513675 w 1833677"/>
                <a:gd name="connsiteY32" fmla="*/ 1268009 h 1268009"/>
                <a:gd name="connsiteX33" fmla="*/ 513675 w 1833677"/>
                <a:gd name="connsiteY33" fmla="*/ 940842 h 1268009"/>
                <a:gd name="connsiteX34" fmla="*/ 1885 w 1833677"/>
                <a:gd name="connsiteY34" fmla="*/ 940842 h 1268009"/>
                <a:gd name="connsiteX35" fmla="*/ 0 w 1833677"/>
                <a:gd name="connsiteY35" fmla="*/ 275756 h 1268009"/>
                <a:gd name="connsiteX36" fmla="*/ 0 w 1833677"/>
                <a:gd name="connsiteY36" fmla="*/ 327168 h 1268009"/>
                <a:gd name="connsiteX37" fmla="*/ 517916 w 1833677"/>
                <a:gd name="connsiteY37" fmla="*/ 327168 h 1268009"/>
                <a:gd name="connsiteX38" fmla="*/ 517916 w 1833677"/>
                <a:gd name="connsiteY38" fmla="*/ 0 h 1268009"/>
                <a:gd name="connsiteX39" fmla="*/ 278515 w 1833677"/>
                <a:gd name="connsiteY39" fmla="*/ 0 h 1268009"/>
                <a:gd name="connsiteX40" fmla="*/ 471 w 1833677"/>
                <a:gd name="connsiteY40" fmla="*/ 275756 h 126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833677" h="1268009">
                  <a:moveTo>
                    <a:pt x="1833678" y="469720"/>
                  </a:moveTo>
                  <a:lnTo>
                    <a:pt x="1833678" y="796888"/>
                  </a:lnTo>
                  <a:lnTo>
                    <a:pt x="1315290" y="796888"/>
                  </a:lnTo>
                  <a:lnTo>
                    <a:pt x="1315290" y="469720"/>
                  </a:lnTo>
                  <a:lnTo>
                    <a:pt x="1833678" y="469720"/>
                  </a:lnTo>
                  <a:close/>
                  <a:moveTo>
                    <a:pt x="659295" y="1268009"/>
                  </a:moveTo>
                  <a:lnTo>
                    <a:pt x="1173912" y="1268009"/>
                  </a:lnTo>
                  <a:lnTo>
                    <a:pt x="1173912" y="940842"/>
                  </a:lnTo>
                  <a:lnTo>
                    <a:pt x="655524" y="940842"/>
                  </a:lnTo>
                  <a:close/>
                  <a:moveTo>
                    <a:pt x="1833678" y="275756"/>
                  </a:moveTo>
                  <a:cubicBezTo>
                    <a:pt x="1833678" y="123460"/>
                    <a:pt x="1709194" y="0"/>
                    <a:pt x="1555633" y="0"/>
                  </a:cubicBezTo>
                  <a:cubicBezTo>
                    <a:pt x="1555478" y="0"/>
                    <a:pt x="1555318" y="0"/>
                    <a:pt x="1555162" y="0"/>
                  </a:cubicBezTo>
                  <a:lnTo>
                    <a:pt x="1315290" y="0"/>
                  </a:lnTo>
                  <a:lnTo>
                    <a:pt x="1315290" y="327168"/>
                  </a:lnTo>
                  <a:lnTo>
                    <a:pt x="1833678" y="327168"/>
                  </a:lnTo>
                  <a:close/>
                  <a:moveTo>
                    <a:pt x="659295" y="0"/>
                  </a:moveTo>
                  <a:lnTo>
                    <a:pt x="659295" y="327168"/>
                  </a:lnTo>
                  <a:lnTo>
                    <a:pt x="1173912" y="327168"/>
                  </a:lnTo>
                  <a:lnTo>
                    <a:pt x="1173912" y="0"/>
                  </a:lnTo>
                  <a:lnTo>
                    <a:pt x="655524" y="0"/>
                  </a:lnTo>
                  <a:close/>
                  <a:moveTo>
                    <a:pt x="1885" y="469720"/>
                  </a:moveTo>
                  <a:lnTo>
                    <a:pt x="1885" y="469720"/>
                  </a:lnTo>
                  <a:lnTo>
                    <a:pt x="1885" y="796888"/>
                  </a:lnTo>
                  <a:lnTo>
                    <a:pt x="517916" y="796888"/>
                  </a:lnTo>
                  <a:lnTo>
                    <a:pt x="517916" y="469720"/>
                  </a:lnTo>
                  <a:close/>
                  <a:moveTo>
                    <a:pt x="1315290" y="1268009"/>
                  </a:moveTo>
                  <a:lnTo>
                    <a:pt x="1553277" y="1268009"/>
                  </a:lnTo>
                  <a:cubicBezTo>
                    <a:pt x="1706838" y="1268009"/>
                    <a:pt x="1831321" y="1144550"/>
                    <a:pt x="1831321" y="992254"/>
                  </a:cubicBezTo>
                  <a:lnTo>
                    <a:pt x="1831321" y="938972"/>
                  </a:lnTo>
                  <a:lnTo>
                    <a:pt x="1315290" y="938972"/>
                  </a:lnTo>
                  <a:close/>
                  <a:moveTo>
                    <a:pt x="0" y="992254"/>
                  </a:moveTo>
                  <a:cubicBezTo>
                    <a:pt x="0" y="1144550"/>
                    <a:pt x="124484" y="1268009"/>
                    <a:pt x="278044" y="1268009"/>
                  </a:cubicBezTo>
                  <a:lnTo>
                    <a:pt x="513675" y="1268009"/>
                  </a:lnTo>
                  <a:lnTo>
                    <a:pt x="513675" y="940842"/>
                  </a:lnTo>
                  <a:lnTo>
                    <a:pt x="1885" y="940842"/>
                  </a:lnTo>
                  <a:close/>
                  <a:moveTo>
                    <a:pt x="0" y="275756"/>
                  </a:moveTo>
                  <a:lnTo>
                    <a:pt x="0" y="327168"/>
                  </a:lnTo>
                  <a:lnTo>
                    <a:pt x="517916" y="327168"/>
                  </a:lnTo>
                  <a:lnTo>
                    <a:pt x="517916" y="0"/>
                  </a:lnTo>
                  <a:lnTo>
                    <a:pt x="278515" y="0"/>
                  </a:lnTo>
                  <a:cubicBezTo>
                    <a:pt x="124955" y="0"/>
                    <a:pt x="471" y="123460"/>
                    <a:pt x="471" y="275756"/>
                  </a:cubicBezTo>
                </a:path>
              </a:pathLst>
            </a:custGeom>
            <a:solidFill>
              <a:srgbClr val="D9291C"/>
            </a:solidFill>
            <a:ln w="47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74D19C2B-175C-DA49-9CDC-BF213E99041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419185" y="3201867"/>
            <a:ext cx="8337506" cy="1534889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</a:bodyPr>
          <a:lstStyle>
            <a:lvl1pPr algn="l">
              <a:defRPr sz="4400" b="1" spc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Inter" panose="020B05020300000000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A343B9A-2A38-D446-A223-2EFBCF50DB5B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419185" y="4736756"/>
            <a:ext cx="7596188" cy="72330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lvl1pPr marL="0" indent="0" algn="l">
              <a:lnSpc>
                <a:spcPct val="100000"/>
              </a:lnSpc>
              <a:buNone/>
              <a:defRPr sz="2000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Inter" panose="020B050203000000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 / Presenter’s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233003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AC86-63D0-4674-A708-65D026C95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1056640"/>
            <a:ext cx="5495924" cy="4839431"/>
          </a:xfrm>
          <a:prstGeom prst="rect">
            <a:avLst/>
          </a:prstGeom>
        </p:spPr>
        <p:txBody>
          <a:bodyPr anchor="ctr"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B210891-6461-9F4C-A611-71DFB4BEB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11" y="2714324"/>
            <a:ext cx="5480934" cy="1429352"/>
          </a:xfrm>
          <a:prstGeom prst="rect">
            <a:avLst/>
          </a:prstGeom>
        </p:spPr>
        <p:txBody>
          <a:bodyPr anchor="ctr"/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C18B6C-9F19-465A-D587-C1D4B4F7D035}"/>
              </a:ext>
            </a:extLst>
          </p:cNvPr>
          <p:cNvSpPr/>
          <p:nvPr userDrawn="1"/>
        </p:nvSpPr>
        <p:spPr>
          <a:xfrm>
            <a:off x="353043" y="1562100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D014F6-FF8B-C9C1-CB27-7A4D4648226D}"/>
              </a:ext>
            </a:extLst>
          </p:cNvPr>
          <p:cNvGrpSpPr/>
          <p:nvPr userDrawn="1"/>
        </p:nvGrpSpPr>
        <p:grpSpPr>
          <a:xfrm>
            <a:off x="1263967" y="0"/>
            <a:ext cx="4254059" cy="6858000"/>
            <a:chOff x="1463347" y="0"/>
            <a:chExt cx="4686069" cy="7554446"/>
          </a:xfrm>
        </p:grpSpPr>
        <p:sp>
          <p:nvSpPr>
            <p:cNvPr id="4" name="Round Single Corner Rectangle 3">
              <a:extLst>
                <a:ext uri="{FF2B5EF4-FFF2-40B4-BE49-F238E27FC236}">
                  <a16:creationId xmlns:a16="http://schemas.microsoft.com/office/drawing/2014/main" id="{69DE1A71-5C32-6A8A-6083-91C1444C13E7}"/>
                </a:ext>
              </a:extLst>
            </p:cNvPr>
            <p:cNvSpPr/>
            <p:nvPr userDrawn="1"/>
          </p:nvSpPr>
          <p:spPr>
            <a:xfrm>
              <a:off x="1781643" y="5377099"/>
              <a:ext cx="1576544" cy="1799625"/>
            </a:xfrm>
            <a:prstGeom prst="round1Rect">
              <a:avLst>
                <a:gd name="adj" fmla="val 4714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4C500A8-7DF7-BB50-5087-8AC914A3859F}"/>
                </a:ext>
              </a:extLst>
            </p:cNvPr>
            <p:cNvSpPr/>
            <p:nvPr userDrawn="1"/>
          </p:nvSpPr>
          <p:spPr>
            <a:xfrm>
              <a:off x="1781643" y="7270444"/>
              <a:ext cx="1576544" cy="284002"/>
            </a:xfrm>
            <a:prstGeom prst="rect">
              <a:avLst/>
            </a:prstGeom>
            <a:solidFill>
              <a:schemeClr val="accent3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endParaRPr lang="en-US" sz="140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729D35-0DE6-BC07-3C57-5F0004FFC2D4}"/>
                </a:ext>
              </a:extLst>
            </p:cNvPr>
            <p:cNvSpPr/>
            <p:nvPr userDrawn="1"/>
          </p:nvSpPr>
          <p:spPr>
            <a:xfrm>
              <a:off x="3851798" y="0"/>
              <a:ext cx="1041956" cy="1894159"/>
            </a:xfrm>
            <a:prstGeom prst="rect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endParaRPr lang="en-US" sz="1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9F4169-88AB-1BB1-1F59-9273FFD5F370}"/>
                </a:ext>
              </a:extLst>
            </p:cNvPr>
            <p:cNvSpPr/>
            <p:nvPr userDrawn="1"/>
          </p:nvSpPr>
          <p:spPr>
            <a:xfrm>
              <a:off x="3692181" y="1019836"/>
              <a:ext cx="290087" cy="1298680"/>
            </a:xfrm>
            <a:prstGeom prst="rect">
              <a:avLst/>
            </a:prstGeom>
            <a:solidFill>
              <a:schemeClr val="tx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endParaRPr lang="en-US" sz="14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3BCFCB-4E0C-0984-616B-2FA155F40D31}"/>
                </a:ext>
              </a:extLst>
            </p:cNvPr>
            <p:cNvSpPr/>
            <p:nvPr userDrawn="1"/>
          </p:nvSpPr>
          <p:spPr>
            <a:xfrm rot="16200000">
              <a:off x="4798513" y="6203543"/>
              <a:ext cx="807647" cy="1894159"/>
            </a:xfrm>
            <a:prstGeom prst="rect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  <a:spcBef>
                  <a:spcPts val="300"/>
                </a:spcBef>
              </a:pPr>
              <a:endParaRPr lang="en-US" sz="140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75C6940-3392-7623-778C-93E12A37FC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92" t="4" r="40848" b="66110"/>
            <a:stretch>
              <a:fillRect/>
            </a:stretch>
          </p:blipFill>
          <p:spPr>
            <a:xfrm>
              <a:off x="1463347" y="424356"/>
              <a:ext cx="2518921" cy="983579"/>
            </a:xfrm>
            <a:custGeom>
              <a:avLst/>
              <a:gdLst>
                <a:gd name="connsiteX0" fmla="*/ 0 w 48005999"/>
                <a:gd name="connsiteY0" fmla="*/ 0 h 18745200"/>
                <a:gd name="connsiteX1" fmla="*/ 48005999 w 48005999"/>
                <a:gd name="connsiteY1" fmla="*/ 0 h 18745200"/>
                <a:gd name="connsiteX2" fmla="*/ 48005999 w 48005999"/>
                <a:gd name="connsiteY2" fmla="*/ 18745200 h 18745200"/>
                <a:gd name="connsiteX3" fmla="*/ 0 w 48005999"/>
                <a:gd name="connsiteY3" fmla="*/ 18745200 h 18745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005999" h="18745200">
                  <a:moveTo>
                    <a:pt x="0" y="0"/>
                  </a:moveTo>
                  <a:lnTo>
                    <a:pt x="48005999" y="0"/>
                  </a:lnTo>
                  <a:lnTo>
                    <a:pt x="48005999" y="18745200"/>
                  </a:lnTo>
                  <a:lnTo>
                    <a:pt x="0" y="18745200"/>
                  </a:lnTo>
                  <a:close/>
                </a:path>
              </a:pathLst>
            </a:custGeom>
          </p:spPr>
        </p:pic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9064CFA2-7332-A16F-04AB-E5F4C7165F0E}"/>
              </a:ext>
            </a:extLst>
          </p:cNvPr>
          <p:cNvSpPr/>
          <p:nvPr userDrawn="1"/>
        </p:nvSpPr>
        <p:spPr>
          <a:xfrm>
            <a:off x="4769750" y="6300715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54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1 Section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51ACE89-D9DE-584C-49A5-96F8BBFDCF22}"/>
              </a:ext>
            </a:extLst>
          </p:cNvPr>
          <p:cNvGrpSpPr/>
          <p:nvPr userDrawn="1"/>
        </p:nvGrpSpPr>
        <p:grpSpPr>
          <a:xfrm>
            <a:off x="9926410" y="6414962"/>
            <a:ext cx="1536192" cy="381374"/>
            <a:chOff x="2794930" y="5836024"/>
            <a:chExt cx="2047773" cy="41659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F4D4991-FB12-2735-6BC9-2570B7F7A853}"/>
                </a:ext>
              </a:extLst>
            </p:cNvPr>
            <p:cNvSpPr/>
            <p:nvPr/>
          </p:nvSpPr>
          <p:spPr>
            <a:xfrm>
              <a:off x="2794930" y="5836024"/>
              <a:ext cx="2047773" cy="2097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0" i="0">
                  <a:latin typeface="Arial" panose="020B0604020202020204" pitchFamily="34" charset="0"/>
                </a:rPr>
                <a:t>CONFIDENTIAL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0CA22A-A29A-7059-1563-45B882BDD9F9}"/>
                </a:ext>
              </a:extLst>
            </p:cNvPr>
            <p:cNvSpPr txBox="1"/>
            <p:nvPr/>
          </p:nvSpPr>
          <p:spPr>
            <a:xfrm>
              <a:off x="2794930" y="6050901"/>
              <a:ext cx="2047773" cy="201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0" i="0" dirty="0">
                  <a:solidFill>
                    <a:schemeClr val="bg1"/>
                  </a:solidFill>
                  <a:latin typeface="Arial" panose="020B0604020202020204" pitchFamily="34" charset="0"/>
                </a:rPr>
                <a:t>Access Limited to Authorized Personnel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373C7DC-22AD-D202-A3FF-ECC655A68976}"/>
              </a:ext>
            </a:extLst>
          </p:cNvPr>
          <p:cNvSpPr/>
          <p:nvPr userDrawn="1"/>
        </p:nvSpPr>
        <p:spPr>
          <a:xfrm>
            <a:off x="2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D8EEE09C-400D-4827-3CC5-E9CB6F22D90B}"/>
              </a:ext>
            </a:extLst>
          </p:cNvPr>
          <p:cNvSpPr/>
          <p:nvPr userDrawn="1"/>
        </p:nvSpPr>
        <p:spPr>
          <a:xfrm rot="10800000" flipH="1">
            <a:off x="0" y="-2"/>
            <a:ext cx="7213221" cy="5448301"/>
          </a:xfrm>
          <a:prstGeom prst="round1Rect">
            <a:avLst>
              <a:gd name="adj" fmla="val 31714"/>
            </a:avLst>
          </a:prstGeom>
          <a:solidFill>
            <a:schemeClr val="accent3">
              <a:lumMod val="75000"/>
              <a:alpha val="3982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9B65F-52B3-ECCB-E079-A126905FA4A9}"/>
              </a:ext>
            </a:extLst>
          </p:cNvPr>
          <p:cNvSpPr/>
          <p:nvPr userDrawn="1"/>
        </p:nvSpPr>
        <p:spPr>
          <a:xfrm rot="16200000">
            <a:off x="9795407" y="444499"/>
            <a:ext cx="368301" cy="15621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  <p:sp>
        <p:nvSpPr>
          <p:cNvPr id="11" name="Round Single Corner of Rectangle 10">
            <a:extLst>
              <a:ext uri="{FF2B5EF4-FFF2-40B4-BE49-F238E27FC236}">
                <a16:creationId xmlns:a16="http://schemas.microsoft.com/office/drawing/2014/main" id="{A5532A81-73CB-A8E6-358F-1E0016AA75E3}"/>
              </a:ext>
            </a:extLst>
          </p:cNvPr>
          <p:cNvSpPr/>
          <p:nvPr userDrawn="1"/>
        </p:nvSpPr>
        <p:spPr>
          <a:xfrm>
            <a:off x="10760608" y="1409699"/>
            <a:ext cx="1431392" cy="2649293"/>
          </a:xfrm>
          <a:prstGeom prst="round1Rect">
            <a:avLst>
              <a:gd name="adj" fmla="val 42658"/>
            </a:avLst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2CDF117-A1A0-1798-A94D-5A0998ADFE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2" t="4" r="40848" b="66110"/>
          <a:stretch>
            <a:fillRect/>
          </a:stretch>
        </p:blipFill>
        <p:spPr>
          <a:xfrm>
            <a:off x="8115300" y="3278334"/>
            <a:ext cx="3174621" cy="1239614"/>
          </a:xfrm>
          <a:custGeom>
            <a:avLst/>
            <a:gdLst>
              <a:gd name="connsiteX0" fmla="*/ 0 w 48005999"/>
              <a:gd name="connsiteY0" fmla="*/ 0 h 18745200"/>
              <a:gd name="connsiteX1" fmla="*/ 48005999 w 48005999"/>
              <a:gd name="connsiteY1" fmla="*/ 0 h 18745200"/>
              <a:gd name="connsiteX2" fmla="*/ 48005999 w 48005999"/>
              <a:gd name="connsiteY2" fmla="*/ 18745200 h 18745200"/>
              <a:gd name="connsiteX3" fmla="*/ 0 w 48005999"/>
              <a:gd name="connsiteY3" fmla="*/ 18745200 h 1874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05999" h="18745200">
                <a:moveTo>
                  <a:pt x="0" y="0"/>
                </a:moveTo>
                <a:lnTo>
                  <a:pt x="48005999" y="0"/>
                </a:lnTo>
                <a:lnTo>
                  <a:pt x="48005999" y="18745200"/>
                </a:lnTo>
                <a:lnTo>
                  <a:pt x="0" y="18745200"/>
                </a:lnTo>
                <a:close/>
              </a:path>
            </a:pathLst>
          </a:cu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E680FD1-693D-8D50-B280-D4F44300B294}"/>
              </a:ext>
            </a:extLst>
          </p:cNvPr>
          <p:cNvSpPr/>
          <p:nvPr userDrawn="1"/>
        </p:nvSpPr>
        <p:spPr>
          <a:xfrm rot="10800000">
            <a:off x="11847712" y="4058992"/>
            <a:ext cx="344288" cy="1904108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  <p:pic>
        <p:nvPicPr>
          <p:cNvPr id="30" name="Picture 9">
            <a:extLst>
              <a:ext uri="{FF2B5EF4-FFF2-40B4-BE49-F238E27FC236}">
                <a16:creationId xmlns:a16="http://schemas.microsoft.com/office/drawing/2014/main" id="{193297C9-FE34-0731-10F3-B97813B225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8582" y="6450377"/>
            <a:ext cx="278208" cy="190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601102-A4FD-0A9C-4D8C-EC26055922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86285" y="2431977"/>
            <a:ext cx="5749608" cy="153488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000" b="1" i="0" kern="0" spc="-2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defRPr>
            </a:lvl1pPr>
          </a:lstStyle>
          <a:p>
            <a:r>
              <a:rPr lang="en-US" dirty="0"/>
              <a:t>Header</a:t>
            </a:r>
            <a:br>
              <a:rPr lang="en-US" dirty="0"/>
            </a:br>
            <a:r>
              <a:rPr lang="en-US" dirty="0"/>
              <a:t>2x lines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C49645-E892-2C34-B8FE-9AB35604A1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6285" y="3923202"/>
            <a:ext cx="5749608" cy="775909"/>
          </a:xfrm>
          <a:prstGeom prst="rect">
            <a:avLst/>
          </a:prstGeom>
        </p:spPr>
        <p:txBody>
          <a:bodyPr wrap="square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 kern="0" spc="-20" baseline="0">
                <a:solidFill>
                  <a:schemeClr val="bg1">
                    <a:alpha val="79731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23FAA9-5C75-DEB4-27C2-B79B3383C278}"/>
              </a:ext>
            </a:extLst>
          </p:cNvPr>
          <p:cNvSpPr/>
          <p:nvPr userDrawn="1"/>
        </p:nvSpPr>
        <p:spPr>
          <a:xfrm rot="16200000">
            <a:off x="4837138" y="5200648"/>
            <a:ext cx="342901" cy="15621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5F4888DF-4022-8D3F-A9BD-6556D4869803}"/>
              </a:ext>
            </a:extLst>
          </p:cNvPr>
          <p:cNvSpPr/>
          <p:nvPr userDrawn="1"/>
        </p:nvSpPr>
        <p:spPr>
          <a:xfrm>
            <a:off x="1125432" y="4847553"/>
            <a:ext cx="1431392" cy="2010447"/>
          </a:xfrm>
          <a:prstGeom prst="round1Rect">
            <a:avLst>
              <a:gd name="adj" fmla="val 42658"/>
            </a:avLst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D0B96A-12F2-3CC0-9683-D842259FBCE6}"/>
              </a:ext>
            </a:extLst>
          </p:cNvPr>
          <p:cNvSpPr/>
          <p:nvPr userDrawn="1"/>
        </p:nvSpPr>
        <p:spPr>
          <a:xfrm rot="10800000">
            <a:off x="973032" y="1927653"/>
            <a:ext cx="172144" cy="29198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8EAA73-DA7C-B6C5-DDAD-9E01022454BB}"/>
              </a:ext>
            </a:extLst>
          </p:cNvPr>
          <p:cNvSpPr/>
          <p:nvPr userDrawn="1"/>
        </p:nvSpPr>
        <p:spPr>
          <a:xfrm rot="10800000">
            <a:off x="17442" y="3505200"/>
            <a:ext cx="955589" cy="2667000"/>
          </a:xfrm>
          <a:prstGeom prst="rect">
            <a:avLst/>
          </a:pr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4FF218-9627-8223-E30C-70E5ED236ADA}"/>
              </a:ext>
            </a:extLst>
          </p:cNvPr>
          <p:cNvSpPr/>
          <p:nvPr userDrawn="1"/>
        </p:nvSpPr>
        <p:spPr>
          <a:xfrm rot="10800000">
            <a:off x="5407285" y="0"/>
            <a:ext cx="955589" cy="1913268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6C3AAE-9AC2-3F2F-1B23-8C0B7D20917E}"/>
              </a:ext>
            </a:extLst>
          </p:cNvPr>
          <p:cNvSpPr/>
          <p:nvPr userDrawn="1"/>
        </p:nvSpPr>
        <p:spPr>
          <a:xfrm rot="10800000">
            <a:off x="6182566" y="0"/>
            <a:ext cx="368301" cy="15621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 b="0" i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26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22" grpId="0" animBg="1"/>
      <p:bldP spid="5" grpId="0" animBg="1"/>
      <p:bldP spid="6" grpId="0" animBg="1"/>
      <p:bldP spid="7" grpId="0" animBg="1"/>
      <p:bldP spid="10" grpId="0" animBg="1"/>
      <p:bldP spid="13" grpId="0" animBg="1"/>
      <p:bldP spid="14" grpId="0" animBg="1"/>
    </p:bldLst>
  </p:timing>
  <p:extLst>
    <p:ext uri="{DCECCB84-F9BA-43D5-87BE-67443E8EF086}">
      <p15:sldGuideLst xmlns:p15="http://schemas.microsoft.com/office/powerpoint/2012/main">
        <p15:guide id="1" pos="166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P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81ED019C-63FC-A5C4-2A10-C179C00F78A1}"/>
              </a:ext>
            </a:extLst>
          </p:cNvPr>
          <p:cNvSpPr/>
          <p:nvPr userDrawn="1"/>
        </p:nvSpPr>
        <p:spPr>
          <a:xfrm rot="5400000">
            <a:off x="-1414" y="-1"/>
            <a:ext cx="1078991" cy="1078991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5F31E8B-B33C-395D-B647-FA88A71F1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9227" y="176071"/>
            <a:ext cx="10837164" cy="72645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400" b="0" i="0" kern="0" spc="-50" baseline="0">
                <a:solidFill>
                  <a:schemeClr val="tx1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0D88F09-368E-7B2B-3AE7-7D066BDCEB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86766" y="804705"/>
            <a:ext cx="10841038" cy="41333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kern="0" spc="-3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accent6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387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 Page - No 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81ED019C-63FC-A5C4-2A10-C179C00F78A1}"/>
              </a:ext>
            </a:extLst>
          </p:cNvPr>
          <p:cNvSpPr/>
          <p:nvPr userDrawn="1"/>
        </p:nvSpPr>
        <p:spPr>
          <a:xfrm rot="5400000">
            <a:off x="-1414" y="-1"/>
            <a:ext cx="1078991" cy="1078991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5F31E8B-B33C-395D-B647-FA88A71F1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9227" y="176071"/>
            <a:ext cx="10837164" cy="72645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400" b="0" i="0" kern="0" spc="-50" baseline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1085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81ED019C-63FC-A5C4-2A10-C179C00F78A1}"/>
              </a:ext>
            </a:extLst>
          </p:cNvPr>
          <p:cNvSpPr/>
          <p:nvPr userDrawn="1"/>
        </p:nvSpPr>
        <p:spPr>
          <a:xfrm rot="5400000">
            <a:off x="-1414" y="-1"/>
            <a:ext cx="1078991" cy="1078991"/>
          </a:xfrm>
          <a:prstGeom prst="round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5F31E8B-B33C-395D-B647-FA88A71F1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9227" y="176071"/>
            <a:ext cx="10837164" cy="72645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3400" b="1" i="0" kern="0" spc="-50" baseline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0D88F09-368E-7B2B-3AE7-7D066BDCEB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86766" y="804705"/>
            <a:ext cx="10841038" cy="41333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0" i="0" kern="0" spc="-3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accent6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0343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>
            <a:extLst>
              <a:ext uri="{FF2B5EF4-FFF2-40B4-BE49-F238E27FC236}">
                <a16:creationId xmlns:a16="http://schemas.microsoft.com/office/drawing/2014/main" id="{B248F975-5B09-7A81-CE16-14ACCDB9C144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269854" y="-1"/>
            <a:ext cx="6411609" cy="43868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8232B1-B937-D9EF-6D60-9E8C9D300C01}"/>
              </a:ext>
            </a:extLst>
          </p:cNvPr>
          <p:cNvSpPr/>
          <p:nvPr userDrawn="1"/>
        </p:nvSpPr>
        <p:spPr>
          <a:xfrm>
            <a:off x="10184508" y="5401650"/>
            <a:ext cx="1057043" cy="1445343"/>
          </a:xfrm>
          <a:prstGeom prst="rect">
            <a:avLst/>
          </a:prstGeom>
          <a:solidFill>
            <a:schemeClr val="tx2">
              <a:alpha val="1991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88AD91-6740-73D0-B51D-6A42A4EFD1FD}"/>
              </a:ext>
            </a:extLst>
          </p:cNvPr>
          <p:cNvSpPr/>
          <p:nvPr userDrawn="1"/>
        </p:nvSpPr>
        <p:spPr>
          <a:xfrm>
            <a:off x="11111690" y="4700510"/>
            <a:ext cx="259722" cy="1053721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300"/>
              </a:spcBef>
            </a:pPr>
            <a:endParaRPr lang="en-US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9C97C9-9ED2-0F3E-2C50-35A5E98043B1}"/>
              </a:ext>
            </a:extLst>
          </p:cNvPr>
          <p:cNvSpPr/>
          <p:nvPr userDrawn="1"/>
        </p:nvSpPr>
        <p:spPr>
          <a:xfrm>
            <a:off x="8475659" y="1422950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1E6DAFC-AB98-C74D-AEAE-9886939620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2" t="4" r="40848" b="66110"/>
          <a:stretch>
            <a:fillRect/>
          </a:stretch>
        </p:blipFill>
        <p:spPr>
          <a:xfrm>
            <a:off x="8041503" y="5017833"/>
            <a:ext cx="2518921" cy="983579"/>
          </a:xfrm>
          <a:custGeom>
            <a:avLst/>
            <a:gdLst>
              <a:gd name="connsiteX0" fmla="*/ 0 w 48005999"/>
              <a:gd name="connsiteY0" fmla="*/ 0 h 18745200"/>
              <a:gd name="connsiteX1" fmla="*/ 48005999 w 48005999"/>
              <a:gd name="connsiteY1" fmla="*/ 0 h 18745200"/>
              <a:gd name="connsiteX2" fmla="*/ 48005999 w 48005999"/>
              <a:gd name="connsiteY2" fmla="*/ 18745200 h 18745200"/>
              <a:gd name="connsiteX3" fmla="*/ 0 w 48005999"/>
              <a:gd name="connsiteY3" fmla="*/ 18745200 h 1874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05999" h="18745200">
                <a:moveTo>
                  <a:pt x="0" y="0"/>
                </a:moveTo>
                <a:lnTo>
                  <a:pt x="48005999" y="0"/>
                </a:lnTo>
                <a:lnTo>
                  <a:pt x="48005999" y="18745200"/>
                </a:lnTo>
                <a:lnTo>
                  <a:pt x="0" y="18745200"/>
                </a:lnTo>
                <a:close/>
              </a:path>
            </a:pathLst>
          </a:cu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44111CB-7260-6E63-EC51-117C841DF68E}"/>
              </a:ext>
            </a:extLst>
          </p:cNvPr>
          <p:cNvSpPr/>
          <p:nvPr userDrawn="1"/>
        </p:nvSpPr>
        <p:spPr>
          <a:xfrm>
            <a:off x="0" y="501387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5F18E4-DC37-6077-0F25-225E103E6612}"/>
              </a:ext>
            </a:extLst>
          </p:cNvPr>
          <p:cNvSpPr/>
          <p:nvPr userDrawn="1"/>
        </p:nvSpPr>
        <p:spPr>
          <a:xfrm>
            <a:off x="1918243" y="6139133"/>
            <a:ext cx="1330036" cy="214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aphic 10">
            <a:extLst>
              <a:ext uri="{FF2B5EF4-FFF2-40B4-BE49-F238E27FC236}">
                <a16:creationId xmlns:a16="http://schemas.microsoft.com/office/drawing/2014/main" id="{60ADD1B8-5570-FBF7-01C7-5290AEA93BA9}"/>
              </a:ext>
            </a:extLst>
          </p:cNvPr>
          <p:cNvGrpSpPr/>
          <p:nvPr userDrawn="1"/>
        </p:nvGrpSpPr>
        <p:grpSpPr>
          <a:xfrm>
            <a:off x="4039009" y="3207886"/>
            <a:ext cx="4113983" cy="459309"/>
            <a:chOff x="708891" y="4649173"/>
            <a:chExt cx="11357397" cy="1268009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09CFE62-B31B-BCAD-5E24-ED51F5D963B5}"/>
                </a:ext>
              </a:extLst>
            </p:cNvPr>
            <p:cNvSpPr/>
            <p:nvPr/>
          </p:nvSpPr>
          <p:spPr>
            <a:xfrm>
              <a:off x="708891" y="4649173"/>
              <a:ext cx="11357397" cy="1268008"/>
            </a:xfrm>
            <a:custGeom>
              <a:avLst/>
              <a:gdLst>
                <a:gd name="connsiteX0" fmla="*/ 6512360 w 11357397"/>
                <a:gd name="connsiteY0" fmla="*/ 271549 h 1268008"/>
                <a:gd name="connsiteX1" fmla="*/ 6512360 w 11357397"/>
                <a:gd name="connsiteY1" fmla="*/ 0 h 1268008"/>
                <a:gd name="connsiteX2" fmla="*/ 6824335 w 11357397"/>
                <a:gd name="connsiteY2" fmla="*/ 0 h 1268008"/>
                <a:gd name="connsiteX3" fmla="*/ 6824335 w 11357397"/>
                <a:gd name="connsiteY3" fmla="*/ 1268009 h 1268008"/>
                <a:gd name="connsiteX4" fmla="*/ 6512360 w 11357397"/>
                <a:gd name="connsiteY4" fmla="*/ 1268009 h 1268008"/>
                <a:gd name="connsiteX5" fmla="*/ 5136748 w 11357397"/>
                <a:gd name="connsiteY5" fmla="*/ 272484 h 1268008"/>
                <a:gd name="connsiteX6" fmla="*/ 5466631 w 11357397"/>
                <a:gd name="connsiteY6" fmla="*/ 272484 h 1268008"/>
                <a:gd name="connsiteX7" fmla="*/ 5466631 w 11357397"/>
                <a:gd name="connsiteY7" fmla="*/ 1268009 h 1268008"/>
                <a:gd name="connsiteX8" fmla="*/ 5778606 w 11357397"/>
                <a:gd name="connsiteY8" fmla="*/ 1268009 h 1268008"/>
                <a:gd name="connsiteX9" fmla="*/ 5778606 w 11357397"/>
                <a:gd name="connsiteY9" fmla="*/ 272484 h 1268008"/>
                <a:gd name="connsiteX10" fmla="*/ 6344119 w 11357397"/>
                <a:gd name="connsiteY10" fmla="*/ 272484 h 1268008"/>
                <a:gd name="connsiteX11" fmla="*/ 6344119 w 11357397"/>
                <a:gd name="connsiteY11" fmla="*/ 0 h 1268008"/>
                <a:gd name="connsiteX12" fmla="*/ 5136748 w 11357397"/>
                <a:gd name="connsiteY12" fmla="*/ 0 h 1268008"/>
                <a:gd name="connsiteX13" fmla="*/ 10149083 w 11357397"/>
                <a:gd name="connsiteY13" fmla="*/ 0 h 1268008"/>
                <a:gd name="connsiteX14" fmla="*/ 10149083 w 11357397"/>
                <a:gd name="connsiteY14" fmla="*/ 272484 h 1268008"/>
                <a:gd name="connsiteX15" fmla="*/ 10478966 w 11357397"/>
                <a:gd name="connsiteY15" fmla="*/ 272484 h 1268008"/>
                <a:gd name="connsiteX16" fmla="*/ 10478966 w 11357397"/>
                <a:gd name="connsiteY16" fmla="*/ 1268009 h 1268008"/>
                <a:gd name="connsiteX17" fmla="*/ 10791883 w 11357397"/>
                <a:gd name="connsiteY17" fmla="*/ 1268009 h 1268008"/>
                <a:gd name="connsiteX18" fmla="*/ 10791883 w 11357397"/>
                <a:gd name="connsiteY18" fmla="*/ 272484 h 1268008"/>
                <a:gd name="connsiteX19" fmla="*/ 11357397 w 11357397"/>
                <a:gd name="connsiteY19" fmla="*/ 272484 h 1268008"/>
                <a:gd name="connsiteX20" fmla="*/ 11357397 w 11357397"/>
                <a:gd name="connsiteY20" fmla="*/ 0 h 1268008"/>
                <a:gd name="connsiteX21" fmla="*/ 0 w 11357397"/>
                <a:gd name="connsiteY21" fmla="*/ 1268009 h 1268008"/>
                <a:gd name="connsiteX22" fmla="*/ 311975 w 11357397"/>
                <a:gd name="connsiteY22" fmla="*/ 1268009 h 1268008"/>
                <a:gd name="connsiteX23" fmla="*/ 311975 w 11357397"/>
                <a:gd name="connsiteY23" fmla="*/ 800626 h 1268008"/>
                <a:gd name="connsiteX24" fmla="*/ 1199360 w 11357397"/>
                <a:gd name="connsiteY24" fmla="*/ 800626 h 1268008"/>
                <a:gd name="connsiteX25" fmla="*/ 1199360 w 11357397"/>
                <a:gd name="connsiteY25" fmla="*/ 526740 h 1268008"/>
                <a:gd name="connsiteX26" fmla="*/ 311975 w 11357397"/>
                <a:gd name="connsiteY26" fmla="*/ 526740 h 1268008"/>
                <a:gd name="connsiteX27" fmla="*/ 311975 w 11357397"/>
                <a:gd name="connsiteY27" fmla="*/ 272484 h 1268008"/>
                <a:gd name="connsiteX28" fmla="*/ 1352049 w 11357397"/>
                <a:gd name="connsiteY28" fmla="*/ 272484 h 1268008"/>
                <a:gd name="connsiteX29" fmla="*/ 1352049 w 11357397"/>
                <a:gd name="connsiteY29" fmla="*/ 0 h 1268008"/>
                <a:gd name="connsiteX30" fmla="*/ 0 w 11357397"/>
                <a:gd name="connsiteY30" fmla="*/ 0 h 1268008"/>
                <a:gd name="connsiteX31" fmla="*/ 8718334 w 11357397"/>
                <a:gd name="connsiteY31" fmla="*/ 1268009 h 1268008"/>
                <a:gd name="connsiteX32" fmla="*/ 9994038 w 11357397"/>
                <a:gd name="connsiteY32" fmla="*/ 1268009 h 1268008"/>
                <a:gd name="connsiteX33" fmla="*/ 9994038 w 11357397"/>
                <a:gd name="connsiteY33" fmla="*/ 995992 h 1268008"/>
                <a:gd name="connsiteX34" fmla="*/ 9030780 w 11357397"/>
                <a:gd name="connsiteY34" fmla="*/ 995992 h 1268008"/>
                <a:gd name="connsiteX35" fmla="*/ 9030780 w 11357397"/>
                <a:gd name="connsiteY35" fmla="*/ 770247 h 1268008"/>
                <a:gd name="connsiteX36" fmla="*/ 9807419 w 11357397"/>
                <a:gd name="connsiteY36" fmla="*/ 770247 h 1268008"/>
                <a:gd name="connsiteX37" fmla="*/ 9807419 w 11357397"/>
                <a:gd name="connsiteY37" fmla="*/ 497762 h 1268008"/>
                <a:gd name="connsiteX38" fmla="*/ 9030780 w 11357397"/>
                <a:gd name="connsiteY38" fmla="*/ 497762 h 1268008"/>
                <a:gd name="connsiteX39" fmla="*/ 9030780 w 11357397"/>
                <a:gd name="connsiteY39" fmla="*/ 272484 h 1268008"/>
                <a:gd name="connsiteX40" fmla="*/ 9977544 w 11357397"/>
                <a:gd name="connsiteY40" fmla="*/ 272484 h 1268008"/>
                <a:gd name="connsiteX41" fmla="*/ 9977544 w 11357397"/>
                <a:gd name="connsiteY41" fmla="*/ 0 h 1268008"/>
                <a:gd name="connsiteX42" fmla="*/ 8718334 w 11357397"/>
                <a:gd name="connsiteY42" fmla="*/ 0 h 1268008"/>
                <a:gd name="connsiteX43" fmla="*/ 8116062 w 11357397"/>
                <a:gd name="connsiteY43" fmla="*/ 0 h 1268008"/>
                <a:gd name="connsiteX44" fmla="*/ 7065620 w 11357397"/>
                <a:gd name="connsiteY44" fmla="*/ 0 h 1268008"/>
                <a:gd name="connsiteX45" fmla="*/ 7065620 w 11357397"/>
                <a:gd name="connsiteY45" fmla="*/ 1268009 h 1268008"/>
                <a:gd name="connsiteX46" fmla="*/ 7378067 w 11357397"/>
                <a:gd name="connsiteY46" fmla="*/ 1268009 h 1268008"/>
                <a:gd name="connsiteX47" fmla="*/ 7378067 w 11357397"/>
                <a:gd name="connsiteY47" fmla="*/ 272484 h 1268008"/>
                <a:gd name="connsiteX48" fmla="*/ 8078832 w 11357397"/>
                <a:gd name="connsiteY48" fmla="*/ 272484 h 1268008"/>
                <a:gd name="connsiteX49" fmla="*/ 8165073 w 11357397"/>
                <a:gd name="connsiteY49" fmla="*/ 358482 h 1268008"/>
                <a:gd name="connsiteX50" fmla="*/ 8165073 w 11357397"/>
                <a:gd name="connsiteY50" fmla="*/ 1268009 h 1268008"/>
                <a:gd name="connsiteX51" fmla="*/ 8477519 w 11357397"/>
                <a:gd name="connsiteY51" fmla="*/ 1268009 h 1268008"/>
                <a:gd name="connsiteX52" fmla="*/ 8477519 w 11357397"/>
                <a:gd name="connsiteY52" fmla="*/ 358482 h 1268008"/>
                <a:gd name="connsiteX53" fmla="*/ 8116062 w 11357397"/>
                <a:gd name="connsiteY53" fmla="*/ 0 h 1268008"/>
                <a:gd name="connsiteX54" fmla="*/ 4686694 w 11357397"/>
                <a:gd name="connsiteY54" fmla="*/ 341657 h 1268008"/>
                <a:gd name="connsiteX55" fmla="*/ 4618361 w 11357397"/>
                <a:gd name="connsiteY55" fmla="*/ 271549 h 1268008"/>
                <a:gd name="connsiteX56" fmla="*/ 3899216 w 11357397"/>
                <a:gd name="connsiteY56" fmla="*/ 271549 h 1268008"/>
                <a:gd name="connsiteX57" fmla="*/ 3899216 w 11357397"/>
                <a:gd name="connsiteY57" fmla="*/ 525805 h 1268008"/>
                <a:gd name="connsiteX58" fmla="*/ 4618361 w 11357397"/>
                <a:gd name="connsiteY58" fmla="*/ 525805 h 1268008"/>
                <a:gd name="connsiteX59" fmla="*/ 4689050 w 11357397"/>
                <a:gd name="connsiteY59" fmla="*/ 455698 h 1268008"/>
                <a:gd name="connsiteX60" fmla="*/ 4654648 w 11357397"/>
                <a:gd name="connsiteY60" fmla="*/ 0 h 1268008"/>
                <a:gd name="connsiteX61" fmla="*/ 4998669 w 11357397"/>
                <a:gd name="connsiteY61" fmla="*/ 341189 h 1268008"/>
                <a:gd name="connsiteX62" fmla="*/ 4998669 w 11357397"/>
                <a:gd name="connsiteY62" fmla="*/ 341657 h 1268008"/>
                <a:gd name="connsiteX63" fmla="*/ 4998669 w 11357397"/>
                <a:gd name="connsiteY63" fmla="*/ 456633 h 1268008"/>
                <a:gd name="connsiteX64" fmla="*/ 4888865 w 11357397"/>
                <a:gd name="connsiteY64" fmla="*/ 706683 h 1268008"/>
                <a:gd name="connsiteX65" fmla="*/ 4983117 w 11357397"/>
                <a:gd name="connsiteY65" fmla="*/ 864658 h 1268008"/>
                <a:gd name="connsiteX66" fmla="*/ 4983117 w 11357397"/>
                <a:gd name="connsiteY66" fmla="*/ 1268009 h 1268008"/>
                <a:gd name="connsiteX67" fmla="*/ 4669728 w 11357397"/>
                <a:gd name="connsiteY67" fmla="*/ 1268009 h 1268008"/>
                <a:gd name="connsiteX68" fmla="*/ 4669728 w 11357397"/>
                <a:gd name="connsiteY68" fmla="*/ 868397 h 1268008"/>
                <a:gd name="connsiteX69" fmla="*/ 4601867 w 11357397"/>
                <a:gd name="connsiteY69" fmla="*/ 798289 h 1268008"/>
                <a:gd name="connsiteX70" fmla="*/ 3899216 w 11357397"/>
                <a:gd name="connsiteY70" fmla="*/ 798289 h 1268008"/>
                <a:gd name="connsiteX71" fmla="*/ 3899216 w 11357397"/>
                <a:gd name="connsiteY71" fmla="*/ 1265672 h 1268008"/>
                <a:gd name="connsiteX72" fmla="*/ 3586770 w 11357397"/>
                <a:gd name="connsiteY72" fmla="*/ 1265672 h 1268008"/>
                <a:gd name="connsiteX73" fmla="*/ 3586770 w 11357397"/>
                <a:gd name="connsiteY73" fmla="*/ 0 h 1268008"/>
                <a:gd name="connsiteX74" fmla="*/ 4654648 w 11357397"/>
                <a:gd name="connsiteY74" fmla="*/ 0 h 1268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1357397" h="1268008">
                  <a:moveTo>
                    <a:pt x="6512360" y="271549"/>
                  </a:moveTo>
                  <a:lnTo>
                    <a:pt x="6512360" y="0"/>
                  </a:lnTo>
                  <a:lnTo>
                    <a:pt x="6824335" y="0"/>
                  </a:lnTo>
                  <a:lnTo>
                    <a:pt x="6824335" y="1268009"/>
                  </a:lnTo>
                  <a:lnTo>
                    <a:pt x="6512360" y="1268009"/>
                  </a:lnTo>
                  <a:close/>
                  <a:moveTo>
                    <a:pt x="5136748" y="272484"/>
                  </a:moveTo>
                  <a:lnTo>
                    <a:pt x="5466631" y="272484"/>
                  </a:lnTo>
                  <a:lnTo>
                    <a:pt x="5466631" y="1268009"/>
                  </a:lnTo>
                  <a:lnTo>
                    <a:pt x="5778606" y="1268009"/>
                  </a:lnTo>
                  <a:lnTo>
                    <a:pt x="5778606" y="272484"/>
                  </a:lnTo>
                  <a:lnTo>
                    <a:pt x="6344119" y="272484"/>
                  </a:lnTo>
                  <a:lnTo>
                    <a:pt x="6344119" y="0"/>
                  </a:lnTo>
                  <a:lnTo>
                    <a:pt x="5136748" y="0"/>
                  </a:lnTo>
                  <a:close/>
                  <a:moveTo>
                    <a:pt x="10149083" y="0"/>
                  </a:moveTo>
                  <a:lnTo>
                    <a:pt x="10149083" y="272484"/>
                  </a:lnTo>
                  <a:lnTo>
                    <a:pt x="10478966" y="272484"/>
                  </a:lnTo>
                  <a:lnTo>
                    <a:pt x="10478966" y="1268009"/>
                  </a:lnTo>
                  <a:lnTo>
                    <a:pt x="10791883" y="1268009"/>
                  </a:lnTo>
                  <a:lnTo>
                    <a:pt x="10791883" y="272484"/>
                  </a:lnTo>
                  <a:lnTo>
                    <a:pt x="11357397" y="272484"/>
                  </a:lnTo>
                  <a:lnTo>
                    <a:pt x="11357397" y="0"/>
                  </a:lnTo>
                  <a:close/>
                  <a:moveTo>
                    <a:pt x="0" y="1268009"/>
                  </a:moveTo>
                  <a:lnTo>
                    <a:pt x="311975" y="1268009"/>
                  </a:lnTo>
                  <a:lnTo>
                    <a:pt x="311975" y="800626"/>
                  </a:lnTo>
                  <a:lnTo>
                    <a:pt x="1199360" y="800626"/>
                  </a:lnTo>
                  <a:lnTo>
                    <a:pt x="1199360" y="526740"/>
                  </a:lnTo>
                  <a:lnTo>
                    <a:pt x="311975" y="526740"/>
                  </a:lnTo>
                  <a:lnTo>
                    <a:pt x="311975" y="272484"/>
                  </a:lnTo>
                  <a:lnTo>
                    <a:pt x="1352049" y="272484"/>
                  </a:lnTo>
                  <a:lnTo>
                    <a:pt x="1352049" y="0"/>
                  </a:lnTo>
                  <a:lnTo>
                    <a:pt x="0" y="0"/>
                  </a:lnTo>
                  <a:close/>
                  <a:moveTo>
                    <a:pt x="8718334" y="1268009"/>
                  </a:moveTo>
                  <a:lnTo>
                    <a:pt x="9994038" y="1268009"/>
                  </a:lnTo>
                  <a:lnTo>
                    <a:pt x="9994038" y="995992"/>
                  </a:lnTo>
                  <a:lnTo>
                    <a:pt x="9030780" y="995992"/>
                  </a:lnTo>
                  <a:lnTo>
                    <a:pt x="9030780" y="770247"/>
                  </a:lnTo>
                  <a:lnTo>
                    <a:pt x="9807419" y="770247"/>
                  </a:lnTo>
                  <a:lnTo>
                    <a:pt x="9807419" y="497762"/>
                  </a:lnTo>
                  <a:lnTo>
                    <a:pt x="9030780" y="497762"/>
                  </a:lnTo>
                  <a:lnTo>
                    <a:pt x="9030780" y="272484"/>
                  </a:lnTo>
                  <a:lnTo>
                    <a:pt x="9977544" y="272484"/>
                  </a:lnTo>
                  <a:lnTo>
                    <a:pt x="9977544" y="0"/>
                  </a:lnTo>
                  <a:lnTo>
                    <a:pt x="8718334" y="0"/>
                  </a:lnTo>
                  <a:close/>
                  <a:moveTo>
                    <a:pt x="8116062" y="0"/>
                  </a:moveTo>
                  <a:lnTo>
                    <a:pt x="7065620" y="0"/>
                  </a:lnTo>
                  <a:lnTo>
                    <a:pt x="7065620" y="1268009"/>
                  </a:lnTo>
                  <a:lnTo>
                    <a:pt x="7378067" y="1268009"/>
                  </a:lnTo>
                  <a:lnTo>
                    <a:pt x="7378067" y="272484"/>
                  </a:lnTo>
                  <a:lnTo>
                    <a:pt x="8078832" y="272484"/>
                  </a:lnTo>
                  <a:cubicBezTo>
                    <a:pt x="8126524" y="272741"/>
                    <a:pt x="8165073" y="311169"/>
                    <a:pt x="8165073" y="358482"/>
                  </a:cubicBezTo>
                  <a:lnTo>
                    <a:pt x="8165073" y="1268009"/>
                  </a:lnTo>
                  <a:lnTo>
                    <a:pt x="8477519" y="1268009"/>
                  </a:lnTo>
                  <a:lnTo>
                    <a:pt x="8477519" y="358482"/>
                  </a:lnTo>
                  <a:cubicBezTo>
                    <a:pt x="8477237" y="160605"/>
                    <a:pt x="8315594" y="257"/>
                    <a:pt x="8116062" y="0"/>
                  </a:cubicBezTo>
                  <a:moveTo>
                    <a:pt x="4686694" y="341657"/>
                  </a:moveTo>
                  <a:cubicBezTo>
                    <a:pt x="4686713" y="303832"/>
                    <a:pt x="4656476" y="272810"/>
                    <a:pt x="4618361" y="271549"/>
                  </a:cubicBezTo>
                  <a:lnTo>
                    <a:pt x="3899216" y="271549"/>
                  </a:lnTo>
                  <a:lnTo>
                    <a:pt x="3899216" y="525805"/>
                  </a:lnTo>
                  <a:lnTo>
                    <a:pt x="4618361" y="525805"/>
                  </a:lnTo>
                  <a:cubicBezTo>
                    <a:pt x="4657400" y="525805"/>
                    <a:pt x="4689050" y="494416"/>
                    <a:pt x="4689050" y="455698"/>
                  </a:cubicBezTo>
                  <a:close/>
                  <a:moveTo>
                    <a:pt x="4654648" y="0"/>
                  </a:moveTo>
                  <a:cubicBezTo>
                    <a:pt x="4844661" y="0"/>
                    <a:pt x="4998669" y="152755"/>
                    <a:pt x="4998669" y="341189"/>
                  </a:cubicBezTo>
                  <a:cubicBezTo>
                    <a:pt x="4998669" y="341345"/>
                    <a:pt x="4998669" y="341501"/>
                    <a:pt x="4998669" y="341657"/>
                  </a:cubicBezTo>
                  <a:lnTo>
                    <a:pt x="4998669" y="456633"/>
                  </a:lnTo>
                  <a:cubicBezTo>
                    <a:pt x="4998810" y="551521"/>
                    <a:pt x="4959035" y="642165"/>
                    <a:pt x="4888865" y="706683"/>
                  </a:cubicBezTo>
                  <a:cubicBezTo>
                    <a:pt x="4946689" y="738666"/>
                    <a:pt x="4982693" y="799009"/>
                    <a:pt x="4983117" y="864658"/>
                  </a:cubicBezTo>
                  <a:lnTo>
                    <a:pt x="4983117" y="1268009"/>
                  </a:lnTo>
                  <a:lnTo>
                    <a:pt x="4669728" y="1268009"/>
                  </a:lnTo>
                  <a:lnTo>
                    <a:pt x="4669728" y="868397"/>
                  </a:lnTo>
                  <a:cubicBezTo>
                    <a:pt x="4669757" y="830749"/>
                    <a:pt x="4639799" y="799794"/>
                    <a:pt x="4601867" y="798289"/>
                  </a:cubicBezTo>
                  <a:lnTo>
                    <a:pt x="3899216" y="798289"/>
                  </a:lnTo>
                  <a:lnTo>
                    <a:pt x="3899216" y="1265672"/>
                  </a:lnTo>
                  <a:lnTo>
                    <a:pt x="3586770" y="1265672"/>
                  </a:lnTo>
                  <a:lnTo>
                    <a:pt x="3586770" y="0"/>
                  </a:lnTo>
                  <a:lnTo>
                    <a:pt x="4654648" y="0"/>
                  </a:lnTo>
                </a:path>
              </a:pathLst>
            </a:custGeom>
            <a:solidFill>
              <a:srgbClr val="000000"/>
            </a:solidFill>
            <a:ln w="47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C8A190F-B2BD-6DE9-551C-755BEA239984}"/>
                </a:ext>
              </a:extLst>
            </p:cNvPr>
            <p:cNvSpPr/>
            <p:nvPr/>
          </p:nvSpPr>
          <p:spPr>
            <a:xfrm>
              <a:off x="2221168" y="4649173"/>
              <a:ext cx="1833677" cy="1268009"/>
            </a:xfrm>
            <a:custGeom>
              <a:avLst/>
              <a:gdLst>
                <a:gd name="connsiteX0" fmla="*/ 1833678 w 1833677"/>
                <a:gd name="connsiteY0" fmla="*/ 469720 h 1268009"/>
                <a:gd name="connsiteX1" fmla="*/ 1833678 w 1833677"/>
                <a:gd name="connsiteY1" fmla="*/ 796888 h 1268009"/>
                <a:gd name="connsiteX2" fmla="*/ 1315290 w 1833677"/>
                <a:gd name="connsiteY2" fmla="*/ 796888 h 1268009"/>
                <a:gd name="connsiteX3" fmla="*/ 1315290 w 1833677"/>
                <a:gd name="connsiteY3" fmla="*/ 469720 h 1268009"/>
                <a:gd name="connsiteX4" fmla="*/ 1833678 w 1833677"/>
                <a:gd name="connsiteY4" fmla="*/ 469720 h 1268009"/>
                <a:gd name="connsiteX5" fmla="*/ 659295 w 1833677"/>
                <a:gd name="connsiteY5" fmla="*/ 1268009 h 1268009"/>
                <a:gd name="connsiteX6" fmla="*/ 1173912 w 1833677"/>
                <a:gd name="connsiteY6" fmla="*/ 1268009 h 1268009"/>
                <a:gd name="connsiteX7" fmla="*/ 1173912 w 1833677"/>
                <a:gd name="connsiteY7" fmla="*/ 940842 h 1268009"/>
                <a:gd name="connsiteX8" fmla="*/ 655524 w 1833677"/>
                <a:gd name="connsiteY8" fmla="*/ 940842 h 1268009"/>
                <a:gd name="connsiteX9" fmla="*/ 1833678 w 1833677"/>
                <a:gd name="connsiteY9" fmla="*/ 275756 h 1268009"/>
                <a:gd name="connsiteX10" fmla="*/ 1555633 w 1833677"/>
                <a:gd name="connsiteY10" fmla="*/ 0 h 1268009"/>
                <a:gd name="connsiteX11" fmla="*/ 1555162 w 1833677"/>
                <a:gd name="connsiteY11" fmla="*/ 0 h 1268009"/>
                <a:gd name="connsiteX12" fmla="*/ 1315290 w 1833677"/>
                <a:gd name="connsiteY12" fmla="*/ 0 h 1268009"/>
                <a:gd name="connsiteX13" fmla="*/ 1315290 w 1833677"/>
                <a:gd name="connsiteY13" fmla="*/ 327168 h 1268009"/>
                <a:gd name="connsiteX14" fmla="*/ 1833678 w 1833677"/>
                <a:gd name="connsiteY14" fmla="*/ 327168 h 1268009"/>
                <a:gd name="connsiteX15" fmla="*/ 659295 w 1833677"/>
                <a:gd name="connsiteY15" fmla="*/ 0 h 1268009"/>
                <a:gd name="connsiteX16" fmla="*/ 659295 w 1833677"/>
                <a:gd name="connsiteY16" fmla="*/ 327168 h 1268009"/>
                <a:gd name="connsiteX17" fmla="*/ 1173912 w 1833677"/>
                <a:gd name="connsiteY17" fmla="*/ 327168 h 1268009"/>
                <a:gd name="connsiteX18" fmla="*/ 1173912 w 1833677"/>
                <a:gd name="connsiteY18" fmla="*/ 0 h 1268009"/>
                <a:gd name="connsiteX19" fmla="*/ 655524 w 1833677"/>
                <a:gd name="connsiteY19" fmla="*/ 0 h 1268009"/>
                <a:gd name="connsiteX20" fmla="*/ 1885 w 1833677"/>
                <a:gd name="connsiteY20" fmla="*/ 469720 h 1268009"/>
                <a:gd name="connsiteX21" fmla="*/ 1885 w 1833677"/>
                <a:gd name="connsiteY21" fmla="*/ 469720 h 1268009"/>
                <a:gd name="connsiteX22" fmla="*/ 1885 w 1833677"/>
                <a:gd name="connsiteY22" fmla="*/ 796888 h 1268009"/>
                <a:gd name="connsiteX23" fmla="*/ 517916 w 1833677"/>
                <a:gd name="connsiteY23" fmla="*/ 796888 h 1268009"/>
                <a:gd name="connsiteX24" fmla="*/ 517916 w 1833677"/>
                <a:gd name="connsiteY24" fmla="*/ 469720 h 1268009"/>
                <a:gd name="connsiteX25" fmla="*/ 1315290 w 1833677"/>
                <a:gd name="connsiteY25" fmla="*/ 1268009 h 1268009"/>
                <a:gd name="connsiteX26" fmla="*/ 1553277 w 1833677"/>
                <a:gd name="connsiteY26" fmla="*/ 1268009 h 1268009"/>
                <a:gd name="connsiteX27" fmla="*/ 1831321 w 1833677"/>
                <a:gd name="connsiteY27" fmla="*/ 992254 h 1268009"/>
                <a:gd name="connsiteX28" fmla="*/ 1831321 w 1833677"/>
                <a:gd name="connsiteY28" fmla="*/ 938972 h 1268009"/>
                <a:gd name="connsiteX29" fmla="*/ 1315290 w 1833677"/>
                <a:gd name="connsiteY29" fmla="*/ 938972 h 1268009"/>
                <a:gd name="connsiteX30" fmla="*/ 0 w 1833677"/>
                <a:gd name="connsiteY30" fmla="*/ 992254 h 1268009"/>
                <a:gd name="connsiteX31" fmla="*/ 278044 w 1833677"/>
                <a:gd name="connsiteY31" fmla="*/ 1268009 h 1268009"/>
                <a:gd name="connsiteX32" fmla="*/ 513675 w 1833677"/>
                <a:gd name="connsiteY32" fmla="*/ 1268009 h 1268009"/>
                <a:gd name="connsiteX33" fmla="*/ 513675 w 1833677"/>
                <a:gd name="connsiteY33" fmla="*/ 940842 h 1268009"/>
                <a:gd name="connsiteX34" fmla="*/ 1885 w 1833677"/>
                <a:gd name="connsiteY34" fmla="*/ 940842 h 1268009"/>
                <a:gd name="connsiteX35" fmla="*/ 0 w 1833677"/>
                <a:gd name="connsiteY35" fmla="*/ 275756 h 1268009"/>
                <a:gd name="connsiteX36" fmla="*/ 0 w 1833677"/>
                <a:gd name="connsiteY36" fmla="*/ 327168 h 1268009"/>
                <a:gd name="connsiteX37" fmla="*/ 517916 w 1833677"/>
                <a:gd name="connsiteY37" fmla="*/ 327168 h 1268009"/>
                <a:gd name="connsiteX38" fmla="*/ 517916 w 1833677"/>
                <a:gd name="connsiteY38" fmla="*/ 0 h 1268009"/>
                <a:gd name="connsiteX39" fmla="*/ 278515 w 1833677"/>
                <a:gd name="connsiteY39" fmla="*/ 0 h 1268009"/>
                <a:gd name="connsiteX40" fmla="*/ 471 w 1833677"/>
                <a:gd name="connsiteY40" fmla="*/ 275756 h 126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833677" h="1268009">
                  <a:moveTo>
                    <a:pt x="1833678" y="469720"/>
                  </a:moveTo>
                  <a:lnTo>
                    <a:pt x="1833678" y="796888"/>
                  </a:lnTo>
                  <a:lnTo>
                    <a:pt x="1315290" y="796888"/>
                  </a:lnTo>
                  <a:lnTo>
                    <a:pt x="1315290" y="469720"/>
                  </a:lnTo>
                  <a:lnTo>
                    <a:pt x="1833678" y="469720"/>
                  </a:lnTo>
                  <a:close/>
                  <a:moveTo>
                    <a:pt x="659295" y="1268009"/>
                  </a:moveTo>
                  <a:lnTo>
                    <a:pt x="1173912" y="1268009"/>
                  </a:lnTo>
                  <a:lnTo>
                    <a:pt x="1173912" y="940842"/>
                  </a:lnTo>
                  <a:lnTo>
                    <a:pt x="655524" y="940842"/>
                  </a:lnTo>
                  <a:close/>
                  <a:moveTo>
                    <a:pt x="1833678" y="275756"/>
                  </a:moveTo>
                  <a:cubicBezTo>
                    <a:pt x="1833678" y="123460"/>
                    <a:pt x="1709194" y="0"/>
                    <a:pt x="1555633" y="0"/>
                  </a:cubicBezTo>
                  <a:cubicBezTo>
                    <a:pt x="1555478" y="0"/>
                    <a:pt x="1555318" y="0"/>
                    <a:pt x="1555162" y="0"/>
                  </a:cubicBezTo>
                  <a:lnTo>
                    <a:pt x="1315290" y="0"/>
                  </a:lnTo>
                  <a:lnTo>
                    <a:pt x="1315290" y="327168"/>
                  </a:lnTo>
                  <a:lnTo>
                    <a:pt x="1833678" y="327168"/>
                  </a:lnTo>
                  <a:close/>
                  <a:moveTo>
                    <a:pt x="659295" y="0"/>
                  </a:moveTo>
                  <a:lnTo>
                    <a:pt x="659295" y="327168"/>
                  </a:lnTo>
                  <a:lnTo>
                    <a:pt x="1173912" y="327168"/>
                  </a:lnTo>
                  <a:lnTo>
                    <a:pt x="1173912" y="0"/>
                  </a:lnTo>
                  <a:lnTo>
                    <a:pt x="655524" y="0"/>
                  </a:lnTo>
                  <a:close/>
                  <a:moveTo>
                    <a:pt x="1885" y="469720"/>
                  </a:moveTo>
                  <a:lnTo>
                    <a:pt x="1885" y="469720"/>
                  </a:lnTo>
                  <a:lnTo>
                    <a:pt x="1885" y="796888"/>
                  </a:lnTo>
                  <a:lnTo>
                    <a:pt x="517916" y="796888"/>
                  </a:lnTo>
                  <a:lnTo>
                    <a:pt x="517916" y="469720"/>
                  </a:lnTo>
                  <a:close/>
                  <a:moveTo>
                    <a:pt x="1315290" y="1268009"/>
                  </a:moveTo>
                  <a:lnTo>
                    <a:pt x="1553277" y="1268009"/>
                  </a:lnTo>
                  <a:cubicBezTo>
                    <a:pt x="1706838" y="1268009"/>
                    <a:pt x="1831321" y="1144550"/>
                    <a:pt x="1831321" y="992254"/>
                  </a:cubicBezTo>
                  <a:lnTo>
                    <a:pt x="1831321" y="938972"/>
                  </a:lnTo>
                  <a:lnTo>
                    <a:pt x="1315290" y="938972"/>
                  </a:lnTo>
                  <a:close/>
                  <a:moveTo>
                    <a:pt x="0" y="992254"/>
                  </a:moveTo>
                  <a:cubicBezTo>
                    <a:pt x="0" y="1144550"/>
                    <a:pt x="124484" y="1268009"/>
                    <a:pt x="278044" y="1268009"/>
                  </a:cubicBezTo>
                  <a:lnTo>
                    <a:pt x="513675" y="1268009"/>
                  </a:lnTo>
                  <a:lnTo>
                    <a:pt x="513675" y="940842"/>
                  </a:lnTo>
                  <a:lnTo>
                    <a:pt x="1885" y="940842"/>
                  </a:lnTo>
                  <a:close/>
                  <a:moveTo>
                    <a:pt x="0" y="275756"/>
                  </a:moveTo>
                  <a:lnTo>
                    <a:pt x="0" y="327168"/>
                  </a:lnTo>
                  <a:lnTo>
                    <a:pt x="517916" y="327168"/>
                  </a:lnTo>
                  <a:lnTo>
                    <a:pt x="517916" y="0"/>
                  </a:lnTo>
                  <a:lnTo>
                    <a:pt x="278515" y="0"/>
                  </a:lnTo>
                  <a:cubicBezTo>
                    <a:pt x="124955" y="0"/>
                    <a:pt x="471" y="123460"/>
                    <a:pt x="471" y="275756"/>
                  </a:cubicBezTo>
                </a:path>
              </a:pathLst>
            </a:custGeom>
            <a:solidFill>
              <a:srgbClr val="D9291C"/>
            </a:solidFill>
            <a:ln w="471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3881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206EF9-7A5E-4870-85CB-E9648D65121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3059" y="714413"/>
            <a:ext cx="11325225" cy="32841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7F7F7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18F9882A-1885-2C47-9807-30CE86AEA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11" y="264872"/>
            <a:ext cx="11329416" cy="454220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76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emf"/><Relationship Id="rId12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6">
            <a:extLst>
              <a:ext uri="{FF2B5EF4-FFF2-40B4-BE49-F238E27FC236}">
                <a16:creationId xmlns:a16="http://schemas.microsoft.com/office/drawing/2014/main" id="{B5346728-1A43-46F3-94F0-8646875C0BA6}"/>
              </a:ext>
            </a:extLst>
          </p:cNvPr>
          <p:cNvSpPr>
            <a:spLocks noChangeArrowheads="1"/>
          </p:cNvSpPr>
          <p:nvPr userDrawn="1"/>
        </p:nvSpPr>
        <p:spPr bwMode="black">
          <a:xfrm>
            <a:off x="11570075" y="6388862"/>
            <a:ext cx="372187" cy="276985"/>
          </a:xfrm>
          <a:prstGeom prst="rect">
            <a:avLst/>
          </a:prstGeom>
        </p:spPr>
        <p:txBody>
          <a:bodyPr/>
          <a:lstStyle/>
          <a:p>
            <a:pPr lvl="0" algn="r"/>
            <a:fld id="{5266C0E3-FCB2-4D10-9980-6DFC0D8FABCB}" type="slidenum">
              <a:rPr lang="en-US" sz="1100">
                <a:solidFill>
                  <a:srgbClr val="FF0000"/>
                </a:solidFill>
              </a:rPr>
              <a:pPr lvl="0" algn="r"/>
              <a:t>‹#›</a:t>
            </a:fld>
            <a:endParaRPr lang="en-US" sz="11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073C5-BADD-D444-8CA8-8E20906A9C2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65363" y="6400800"/>
            <a:ext cx="278208" cy="199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2FAB0E-0D04-4245-92D3-1C9E21FDA85E}"/>
              </a:ext>
            </a:extLst>
          </p:cNvPr>
          <p:cNvSpPr txBox="1"/>
          <p:nvPr userDrawn="1"/>
        </p:nvSpPr>
        <p:spPr>
          <a:xfrm>
            <a:off x="5059901" y="6418863"/>
            <a:ext cx="1988045" cy="2169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457189">
              <a:lnSpc>
                <a:spcPct val="90000"/>
              </a:lnSpc>
              <a:spcBef>
                <a:spcPts val="300"/>
              </a:spcBef>
            </a:pPr>
            <a:r>
              <a:rPr lang="en-US" sz="900">
                <a:solidFill>
                  <a:srgbClr val="000000"/>
                </a:solidFill>
                <a:latin typeface="+mj-lt"/>
                <a:ea typeface="Inter" panose="020B0502030000000004" pitchFamily="34" charset="0"/>
                <a:cs typeface="Arial" panose="020B0604020202020204" pitchFamily="34" charset="0"/>
              </a:rPr>
              <a:t>© Fortinet Inc.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13C7A-2ACA-3145-8E42-86979311783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 flipH="1" flipV="1">
            <a:off x="11216640" y="0"/>
            <a:ext cx="975360" cy="22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86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871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5ACBF0"/>
          </p15:clr>
        </p15:guide>
        <p15:guide id="2" orient="horz" pos="2160">
          <p15:clr>
            <a:srgbClr val="5ACBF0"/>
          </p15:clr>
        </p15:guide>
        <p15:guide id="3" pos="216">
          <p15:clr>
            <a:srgbClr val="5ACBF0"/>
          </p15:clr>
        </p15:guide>
        <p15:guide id="4" pos="7464">
          <p15:clr>
            <a:srgbClr val="5ACBF0"/>
          </p15:clr>
        </p15:guide>
        <p15:guide id="5" orient="horz" pos="840">
          <p15:clr>
            <a:srgbClr val="5ACBF0"/>
          </p15:clr>
        </p15:guide>
        <p15:guide id="6" orient="horz" pos="1864">
          <p15:clr>
            <a:srgbClr val="5ACBF0"/>
          </p15:clr>
        </p15:guide>
        <p15:guide id="7" orient="horz" pos="2886">
          <p15:clr>
            <a:srgbClr val="5ACBF0"/>
          </p15:clr>
        </p15:guide>
        <p15:guide id="8" orient="horz" pos="3893">
          <p15:clr>
            <a:srgbClr val="5ACBF0"/>
          </p15:clr>
        </p15:guide>
        <p15:guide id="9" pos="1498">
          <p15:clr>
            <a:srgbClr val="5ACBF0"/>
          </p15:clr>
        </p15:guide>
        <p15:guide id="10" pos="1600">
          <p15:clr>
            <a:srgbClr val="5ACBF0"/>
          </p15:clr>
        </p15:guide>
        <p15:guide id="11" pos="2644">
          <p15:clr>
            <a:srgbClr val="5ACBF0"/>
          </p15:clr>
        </p15:guide>
        <p15:guide id="12" pos="2747">
          <p15:clr>
            <a:srgbClr val="5ACBF0"/>
          </p15:clr>
        </p15:guide>
        <p15:guide id="13" pos="3792">
          <p15:clr>
            <a:srgbClr val="5ACBF0"/>
          </p15:clr>
        </p15:guide>
        <p15:guide id="14" pos="3888">
          <p15:clr>
            <a:srgbClr val="5ACBF0"/>
          </p15:clr>
        </p15:guide>
        <p15:guide id="15" pos="4934">
          <p15:clr>
            <a:srgbClr val="5ACBF0"/>
          </p15:clr>
        </p15:guide>
        <p15:guide id="16" pos="5034">
          <p15:clr>
            <a:srgbClr val="5ACBF0"/>
          </p15:clr>
        </p15:guide>
        <p15:guide id="17" pos="6081">
          <p15:clr>
            <a:srgbClr val="5ACBF0"/>
          </p15:clr>
        </p15:guide>
        <p15:guide id="18" pos="6183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jpg"/><Relationship Id="rId5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jpg"/><Relationship Id="rId3" Type="http://schemas.openxmlformats.org/officeDocument/2006/relationships/image" Target="../media/image60.jpg"/><Relationship Id="rId4" Type="http://schemas.openxmlformats.org/officeDocument/2006/relationships/image" Target="../media/image6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Relationship Id="rId3" Type="http://schemas.openxmlformats.org/officeDocument/2006/relationships/image" Target="../media/image63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jpg"/><Relationship Id="rId3" Type="http://schemas.openxmlformats.org/officeDocument/2006/relationships/image" Target="../media/image70.jpg"/><Relationship Id="rId4" Type="http://schemas.openxmlformats.org/officeDocument/2006/relationships/image" Target="../media/image7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Protecting Modern Applications,
APIs, and MCP Services with FortiWeb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>
                <a:solidFill>
                  <a:srgbClr val="FFFFFF"/>
                </a:solidFill>
                <a:latin typeface="Arial"/>
              </a:rPr>
              <a:t>Hands-on Training Lab  |  FortiWeb 8.0.5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6440" y="1417320"/>
            <a:ext cx="1417320" cy="932688"/>
          </a:xfrm>
          <a:prstGeom prst="roundRect">
            <a:avLst>
              <a:gd name="adj" fmla="val 12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06440" y="1673352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417320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6368" y="1527048"/>
            <a:ext cx="38404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837944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Provision Azure, deploy with Terraform, and access the lab through Guacamole.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532888"/>
            <a:ext cx="1417320" cy="932688"/>
          </a:xfrm>
          <a:prstGeom prst="roundRect">
            <a:avLst>
              <a:gd name="adj" fmla="val 12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88920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32888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2642616"/>
            <a:ext cx="38404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Application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953512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Review load balancing, SSL/TLS offloading, and content routing already in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648456"/>
            <a:ext cx="1417320" cy="932688"/>
          </a:xfrm>
          <a:prstGeom prst="roundRect">
            <a:avLst>
              <a:gd name="adj" fmla="val 12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904488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3648456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3758184"/>
            <a:ext cx="38404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Protect the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4069080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Web attacks, ML anomaly detection, API security, MCP, and bots.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4764024"/>
            <a:ext cx="1417320" cy="932688"/>
          </a:xfrm>
          <a:prstGeom prst="roundRect">
            <a:avLst>
              <a:gd name="adj" fmla="val 12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5020056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Arial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4764024"/>
            <a:ext cx="4160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16368" y="4873752"/>
            <a:ext cx="384048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Operate and wrap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5184648"/>
            <a:ext cx="38404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Investigate logs, tune policies, troubleshoot, and recap the lab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What you will be able to do by the end of this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61872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261872"/>
            <a:ext cx="73152" cy="1078992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389888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Deploy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00784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Stand up a complete FortiWeb lab with Terraform and access it through Guacamole.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261872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261872"/>
            <a:ext cx="73152" cy="1078992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03136" y="1389888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Deliver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3136" y="1700784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Explain how virtual servers, SSL offloading, and content routing publish multiple apps.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2468880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2468880"/>
            <a:ext cx="73152" cy="1078992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2596896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Protect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907792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Block SQL injection, XSS, command injection, and protocol abuse with a Web Protection Profile.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468880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2468880"/>
            <a:ext cx="73152" cy="1078992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596896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Learn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907792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Train FortiWeb Machine Learning and detect requests that deviate from the Juice Shop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2" y="3675888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0432" y="3675888"/>
            <a:ext cx="73152" cy="1078992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3803904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Secure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114800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Discover PetStore endpoints, learn an API schema, and block mapped API attacks.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75888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675888"/>
            <a:ext cx="73152" cy="1078992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3803904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Protect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3136" y="4114800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Apply protocol-aware MCP Security with no learning phase and inspect AI tool traffic.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0432" y="4882896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0432" y="4882896"/>
            <a:ext cx="73152" cy="1078992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9888" y="5010912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Stop bots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321808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Layer biometrics, thresholds, known bots, and ML bot detection on Juice Shop.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4882896"/>
            <a:ext cx="52852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4882896"/>
            <a:ext cx="73152" cy="1078992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5010912"/>
            <a:ext cx="491947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Operate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5321808"/>
            <a:ext cx="491947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Use Attack, Traffic, and Event logs to investigate, tune, and troubleshoot.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Lab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Deploy → deliver → protect → learn → secure APIs, MCP, and bots → operate</a:t>
            </a:r>
          </a:p>
        </p:txBody>
      </p:sp>
      <p:sp>
        <p:nvSpPr>
          <p:cNvPr id="4" name="Oval 3"/>
          <p:cNvSpPr/>
          <p:nvPr/>
        </p:nvSpPr>
        <p:spPr>
          <a:xfrm>
            <a:off x="1444752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4752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Deploy &amp; access</a:t>
            </a:r>
          </a:p>
        </p:txBody>
      </p:sp>
      <p:sp>
        <p:nvSpPr>
          <p:cNvPr id="9" name="Oval 8"/>
          <p:cNvSpPr/>
          <p:nvPr/>
        </p:nvSpPr>
        <p:spPr>
          <a:xfrm>
            <a:off x="2779776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9776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App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VS, SSL, routing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Common Attacks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Signatures &amp; WPP</a:t>
            </a:r>
          </a:p>
        </p:txBody>
      </p:sp>
      <p:sp>
        <p:nvSpPr>
          <p:cNvPr id="19" name="Oval 18"/>
          <p:cNvSpPr/>
          <p:nvPr/>
        </p:nvSpPr>
        <p:spPr>
          <a:xfrm>
            <a:off x="5449824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16752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ML Anomalies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HMM + SVM</a:t>
            </a:r>
          </a:p>
        </p:txBody>
      </p:sp>
      <p:sp>
        <p:nvSpPr>
          <p:cNvPr id="24" name="Oval 23"/>
          <p:cNvSpPr/>
          <p:nvPr/>
        </p:nvSpPr>
        <p:spPr>
          <a:xfrm>
            <a:off x="6784848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API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PetStore ML</a:t>
            </a:r>
          </a:p>
        </p:txBody>
      </p:sp>
      <p:sp>
        <p:nvSpPr>
          <p:cNvPr id="29" name="Oval 28"/>
          <p:cNvSpPr/>
          <p:nvPr/>
        </p:nvSpPr>
        <p:spPr>
          <a:xfrm>
            <a:off x="8119872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7536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MCP Protection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7536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AI tool traffic</a:t>
            </a:r>
          </a:p>
        </p:txBody>
      </p:sp>
      <p:sp>
        <p:nvSpPr>
          <p:cNvPr id="34" name="Oval 33"/>
          <p:cNvSpPr/>
          <p:nvPr/>
        </p:nvSpPr>
        <p:spPr>
          <a:xfrm>
            <a:off x="9454896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54896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21824" y="1655064"/>
            <a:ext cx="731520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Bot Mitigation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Known + threshold</a:t>
            </a:r>
          </a:p>
        </p:txBody>
      </p:sp>
      <p:sp>
        <p:nvSpPr>
          <p:cNvPr id="39" name="Oval 38"/>
          <p:cNvSpPr/>
          <p:nvPr/>
        </p:nvSpPr>
        <p:spPr>
          <a:xfrm>
            <a:off x="10789920" y="1417320"/>
            <a:ext cx="530352" cy="530352"/>
          </a:xfrm>
          <a:prstGeom prst="ellipse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1527048"/>
            <a:ext cx="530352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7584" y="2057400"/>
            <a:ext cx="135331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Operations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87584" y="2496312"/>
            <a:ext cx="1353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Logs &amp; tuning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70432" y="3246120"/>
            <a:ext cx="349300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70432" y="3246120"/>
            <a:ext cx="73152" cy="123444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35024" y="331927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8D597"/>
                </a:solidFill>
                <a:latin typeface="Arial"/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3319272"/>
            <a:ext cx="28895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Review 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5024" y="3611880"/>
            <a:ext cx="3163824" cy="795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Ch 2 configuration is already built. Do not change it unless directed.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73168" y="3246120"/>
            <a:ext cx="349300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73168" y="3246120"/>
            <a:ext cx="73152" cy="123444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331927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8D597"/>
                </a:solidFill>
                <a:latin typeface="Arial"/>
              </a:rPr>
              <a:t>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48656" y="3319272"/>
            <a:ext cx="28895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Traffic tool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0" y="3611880"/>
            <a:ext cx="3163824" cy="795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The FortiWeb Lab Traffic Launcher accelerates learning and attack campaigns.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75904" y="3246120"/>
            <a:ext cx="349300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75904" y="3246120"/>
            <a:ext cx="73152" cy="123444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0496" y="331927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8D597"/>
                </a:solidFill>
                <a:latin typeface="Arial"/>
              </a:rPr>
              <a:t>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51392" y="3319272"/>
            <a:ext cx="28895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Evidence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0496" y="3611880"/>
            <a:ext cx="3163824" cy="7955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Every chapter ends in Traffic or Attack logs so you can prove the control worked.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70432" y="4663440"/>
            <a:ext cx="1069848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53312" y="4773168"/>
            <a:ext cx="103327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Classroom notes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53312" y="50474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Provisioning takes several minutes — submit your email once. Do not click Provision multiple times.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Terraform deploy is about 25–40 minutes after Cloud Shell is ready. Keep Cloud Shell open until Apply complete.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•  Chapter 8 is optional and reuses events from earlier chapters — no new traffic campaign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1
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Provision, deploy, and access the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Lab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Guacamole jump host, FortiGate perimeter, FortiWeb, and Docker targets</a:t>
            </a:r>
          </a:p>
        </p:txBody>
      </p:sp>
      <p:pic>
        <p:nvPicPr>
          <p:cNvPr id="4" name="Picture 3" descr="lab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490" y="1207008"/>
            <a:ext cx="74752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Lab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Key addresses you will use throughout the day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70432" y="1280160"/>
          <a:ext cx="106984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749039"/>
                <a:gridCol w="4754880"/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Key addresses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Guacamole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Student jump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10.10.3.200  (+ .201–.206)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FortiGate-VM01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Perimeter firewall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Outside 10.10.3.101   Inside 10.10.2.101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FortiWeb-VM01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WAF / API / MCP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Protected 10.10.2.100   Server 10.10.1.100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linux-docker-1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Juice Shop, DVWA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10.10.1.200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linux-docker-2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PetStore, crAPI, 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10.10.1.202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170432" y="4572000"/>
            <a:ext cx="349300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4572000"/>
            <a:ext cx="73152" cy="132588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5024" y="464515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8D597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645152"/>
            <a:ext cx="28895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Guacamole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4937760"/>
            <a:ext cx="3163824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Browser jump host for FortiWeb, FortiGate, apps, and the traffic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4572000"/>
            <a:ext cx="349300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73168" y="4572000"/>
            <a:ext cx="73152" cy="132588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64515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8D597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656" y="4645152"/>
            <a:ext cx="28895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FortiWeb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937760"/>
            <a:ext cx="3163824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Reverse proxy in the path of every web, API, and MCP request.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4572000"/>
            <a:ext cx="349300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4572000"/>
            <a:ext cx="73152" cy="132588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464515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8D597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4645152"/>
            <a:ext cx="288950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4937760"/>
            <a:ext cx="3163824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5B5B"/>
                </a:solidFill>
                <a:latin typeface="Arial"/>
              </a:rPr>
              <a:t>Intentionally vulnerable apps used to generate and validate detections.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Provision the Azure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Submit your email once — wait for the workshop credentials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Enter your email and click Provision. The form returns a blank box with no other confirmation.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Provisioning can take several minutes. Do not submit multiple times.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When complete you receive Azure portal credentials for a unique resource group.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Use the assigned lab user even if you have your own Azure account.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Resource groups follow &lt;username&gt;-mcp201-workshop.</a:t>
            </a:r>
          </a:p>
        </p:txBody>
      </p:sp>
      <p:pic>
        <p:nvPicPr>
          <p:cNvPr id="5" name="Picture 4" descr="workshop-provisioning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40985"/>
            <a:ext cx="5897880" cy="1750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Deploy with Azure Cloud 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Sign in → Bash Cloud Shell → clone the repo → run deploy-lab.sh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3444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zure-sign-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126" y="1325880"/>
            <a:ext cx="3542411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6736" y="306324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Sign in with the provisioned lab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112" y="123444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zure-open-cloud-sh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709" y="1325880"/>
            <a:ext cx="3866605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57416" y="306324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Open Cloud Shell from the portal toolbar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356616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zure-cloud-shell-b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012" y="3657600"/>
            <a:ext cx="264464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6736" y="539496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Select Bash, not PowerShell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1112" y="356616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zure-cloud-shell-git-cl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634" y="3657600"/>
            <a:ext cx="3280756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7416" y="539496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Clone the workshop repository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Run the Lab Initialization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The script names the resource group from whoami and applies four Terraform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cd fortiweb-api-mcp-protection/fortiweb-lab-terraform/scripts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chmod +x deploy-lab.sh &amp;&amp; ./deploy-lab.sh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Phases: 00-foundation → 01-appliances → 02-lab-vms → 03-routes.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Keep Cloud Shell open. If the session drops, re-run the script.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When Apply complete appears, copy guacamole_access — you need that URL next.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Allow about 25–40 minutes after Cloud Shell is ready.</a:t>
            </a:r>
          </a:p>
        </p:txBody>
      </p:sp>
      <p:pic>
        <p:nvPicPr>
          <p:cNvPr id="5" name="Picture 4" descr="terraform-apply-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21470"/>
            <a:ext cx="5897880" cy="2189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Access the Lab through Guacamole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http://&lt;public-ip&gt;:8080/guacamole/#/   •  guacadmin / Fortinet1!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3444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uacamol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67" y="1325880"/>
            <a:ext cx="3631529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6736" y="306324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Open the Guacamole login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112" y="123444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uacamole-credent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824" y="1325880"/>
            <a:ext cx="3268376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57416" y="306324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Sign in with the lab Guacamole 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356616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uacamole-client-conn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954" y="3657600"/>
            <a:ext cx="3280756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6736" y="539496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Click the Client connection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1112" y="356616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uacamole-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0779" y="3657600"/>
            <a:ext cx="3318466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7416" y="5394960"/>
            <a:ext cx="4983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Linux desktop is your working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Restore the FortiWeb 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Upload fwb_system_no_defaults.conf, then format the log disk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Download the FortiWeb 8.0.5 config to ~/Downloads on the Guacamole desktop.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Browse to https://10.10.2.100 and sign in as azureuser / Fortinetlab1!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System → Maintenance → Backup &amp; Restore → Restore → Upload the conf file.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After restart, sign in as Fortilab / Fortinetlab1!  (the login changes).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CLI Console → exec formatlogdisk  then confirm with y. FortiWeb restarts again.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Use Chrome bookmarks for FortiWeb, FortiGate, Juice Shop, DVWA, Swagger UI, and MCP.</a:t>
            </a:r>
          </a:p>
        </p:txBody>
      </p:sp>
      <p:pic>
        <p:nvPicPr>
          <p:cNvPr id="5" name="Picture 4" descr="fortiweb-backup-re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648" y="1261872"/>
            <a:ext cx="5570663" cy="2148840"/>
          </a:xfrm>
          <a:prstGeom prst="rect">
            <a:avLst/>
          </a:prstGeom>
        </p:spPr>
      </p:pic>
      <p:pic>
        <p:nvPicPr>
          <p:cNvPr id="6" name="Picture 5" descr="fortiweb-formatlogd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239816"/>
            <a:ext cx="5715000" cy="892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Lab Credentials and Bookmarks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Use these only inside the isolated training environment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70432" y="1261872"/>
          <a:ext cx="58064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691640"/>
                <a:gridCol w="1874519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Username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Password / notes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Guacamole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guacadmin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Fortinet1!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FortiWeb (before restore)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azureuser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Fortinetlab1!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FortiWeb (after restore)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Fortinetlab1!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FortiGate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lab-student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Fortinetlab1!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70432" y="3749039"/>
            <a:ext cx="5806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Accept self-signed certificate warnings for FortiWeb and FortiGate.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Paste into Guacamole via Ctrl+Option+Shift (macOS) or Ctrl+Alt+Shift (Windows) → Clipboard.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Do not reuse these credentials outside the lab.</a:t>
            </a:r>
          </a:p>
        </p:txBody>
      </p:sp>
      <p:pic>
        <p:nvPicPr>
          <p:cNvPr id="6" name="Picture 5" descr="chrome-book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13011"/>
            <a:ext cx="4709160" cy="21154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2
Application Delivery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Review-only — the configuration is already built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FortiWeb as an Application Delivery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Security sits in the same path as load balancing, SSL offload, and content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98448"/>
            <a:ext cx="106984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298448"/>
            <a:ext cx="91440" cy="960120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4752" y="1444752"/>
            <a:ext cx="10241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Load balancing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755648"/>
            <a:ext cx="10241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5B5B"/>
                </a:solidFill>
                <a:latin typeface="Arial"/>
              </a:rPr>
              <a:t>Virtual servers, server pools, health checks, and persistence publish one or more backends.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2350008"/>
            <a:ext cx="106984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2350008"/>
            <a:ext cx="91440" cy="9601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4752" y="2496312"/>
            <a:ext cx="10241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SSL/TLS offloading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807208"/>
            <a:ext cx="10241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5B5B"/>
                </a:solidFill>
                <a:latin typeface="Arial"/>
              </a:rPr>
              <a:t>FortiWeb terminates HTTPS, inspects cleartext, then opens a separate backend connection.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3401568"/>
            <a:ext cx="106984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3401568"/>
            <a:ext cx="91440" cy="960120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3547872"/>
            <a:ext cx="10241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Content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858768"/>
            <a:ext cx="102412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B5B5B"/>
                </a:solidFill>
                <a:latin typeface="Arial"/>
              </a:rPr>
              <a:t>Host and URL rules publish Juice Shop, DVWA, PetStore, and MCP on shared virtual 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4572000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Hands-on in this chapter is observation: open the existing Virtual Server, Server Pool, certificate, and HTTP Content Routing objects. Confirm how juiceshop.fortiweblab.local and dvwa.fortiweblab.local share infrastructure while remaining separate applications.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Load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Client → virtual server → server pool → healthy backend 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Virtual server: IP and interface where FortiWeb accepts client traffic.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Server pool: one or more backend application servers.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Health check: skip members that fail availability tests.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Persistence (sticky sessions) keeps a client on the same member when the app stores local state.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Open Server Objects → Server → Virtual Server and Server Pool, then match them in the Server Policy.</a:t>
            </a:r>
          </a:p>
        </p:txBody>
      </p:sp>
      <p:pic>
        <p:nvPicPr>
          <p:cNvPr id="5" name="Picture 4" descr="load-balanc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50492"/>
            <a:ext cx="58978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Review Virtual Servers and Server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Confirm the MCP and application pools that later chapters will protect</a:t>
            </a:r>
          </a:p>
        </p:txBody>
      </p:sp>
      <p:pic>
        <p:nvPicPr>
          <p:cNvPr id="4" name="Picture 3" descr="virtual-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422454"/>
            <a:ext cx="5532120" cy="1909972"/>
          </a:xfrm>
          <a:prstGeom prst="rect">
            <a:avLst/>
          </a:prstGeom>
        </p:spPr>
      </p:pic>
      <p:pic>
        <p:nvPicPr>
          <p:cNvPr id="5" name="Picture 4" descr="server-pool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09375"/>
            <a:ext cx="5074920" cy="1536130"/>
          </a:xfrm>
          <a:prstGeom prst="rect">
            <a:avLst/>
          </a:prstGeom>
        </p:spPr>
      </p:pic>
      <p:pic>
        <p:nvPicPr>
          <p:cNvPr id="6" name="Picture 5" descr="server-policy-virtual-server-p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603" y="3657600"/>
            <a:ext cx="3712049" cy="2240280"/>
          </a:xfrm>
          <a:prstGeom prst="rect">
            <a:avLst/>
          </a:prstGeom>
        </p:spPr>
      </p:pic>
      <p:pic>
        <p:nvPicPr>
          <p:cNvPr id="7" name="Picture 6" descr="server-pool-heal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010933"/>
            <a:ext cx="5074920" cy="15336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SSL/TLS Offloading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FortiWeb is the TLS server to the client and the TLS client to the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In Reverse Proxy mode FortiWeb presents the Server Policy certificate and decrypts the request.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Inspection of WAF, API, MCP, and bot controls requires this decrypted view.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Review Server Objects → Certificates → Local and the certificate chain on the Server Policy.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Backend communication can stay HTTP or use a separate TLS session.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Do not replace lab certificates unless the instructor asks.</a:t>
            </a:r>
          </a:p>
        </p:txBody>
      </p:sp>
      <p:pic>
        <p:nvPicPr>
          <p:cNvPr id="5" name="Picture 4" descr="ssl-offload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50492"/>
            <a:ext cx="58978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HTTP Content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One virtual IP, many applications — host header selects the server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Juice Shop and DVWA share a virtual server; the Host header chooses the pool.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Open Server Objects → Server → HTTP Content Routing and inspect the dvwa rule.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Later you will attach Web Protection Profiles to these routing entries — not to a new VIP.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PetStore and MCP use their own server policies and host names.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Routing is already correct. Your job is to understand the traffic path before adding security.</a:t>
            </a:r>
          </a:p>
        </p:txBody>
      </p:sp>
      <p:pic>
        <p:nvPicPr>
          <p:cNvPr id="5" name="Picture 4" descr="http-content-routing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92281"/>
            <a:ext cx="5897880" cy="30483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3
Common Attacks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Baseline → Web Protection Profile → attack traffic → logs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Web Application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First observe an unprotected app, then apply a profile and watch detections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29844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149961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SQL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938528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Manipulate queries through unsanitized input.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231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82312" y="129844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1768" y="149961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Cross-Site Scripting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1768" y="1938528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Inject script that runs in another user’s browser.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29844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49961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Command Injection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1938528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Execute operating-system commands via application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" y="285292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9888" y="305409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Path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93008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Read files outside the web root.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231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82312" y="2852928"/>
            <a:ext cx="73152" cy="1417320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1768" y="305409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Protocol abuse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1768" y="3493008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Invalid methods, oversized headers, and HTTP constraint violations.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2852928"/>
            <a:ext cx="73152" cy="1417320"/>
          </a:xfrm>
          <a:prstGeom prst="rect">
            <a:avLst/>
          </a:prstGeom>
          <a:solidFill>
            <a:srgbClr val="307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3054096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Arial"/>
              </a:rPr>
              <a:t>Cookie / client-side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3493008"/>
            <a:ext cx="31089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Weak session IDs and missing security headers.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3.1 — Baseline Application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Attack DVWA before a Web Protection Profile is applied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Open DVWA from the Chrome bookmarks on the Guacamole desktop.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Run a simple SQL injection and command-injection payload on the vulnerable pages.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Confirm the application returns data or command output — nothing is blocking yet.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This baseline is the control: later Attack Logs should show the same techniques denied.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Do not run these tests against any system outside this lab.</a:t>
            </a:r>
          </a:p>
        </p:txBody>
      </p:sp>
      <p:pic>
        <p:nvPicPr>
          <p:cNvPr id="5" name="Picture 4" descr="dvwa-sqli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57175"/>
            <a:ext cx="5897880" cy="271855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3.2 — Web Protection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 profile groups signatures, protocol constraints, headers, and cookie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Create profile DVWA rather than enabling each feature on the server policy.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Attach Signature Protection, HTTP Protocol Constraints, X-Forwarded-For, HTTP Header Security, and Cookie Security.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Lab policies were cloned from Standard Protection and renamed DVWA so you can select them quickly.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Assign the profile on the dvwa HTTP Content Routing rule — the same object you reviewed in Chapter 2.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Save the juiceshop-DVWA server policy after the routing entry is updated.</a:t>
            </a:r>
          </a:p>
        </p:txBody>
      </p:sp>
      <p:pic>
        <p:nvPicPr>
          <p:cNvPr id="5" name="Picture 4" descr="web-protection-profile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50492"/>
            <a:ext cx="58978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3.3 — Generate Attack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FortiWeb Lab Traffic Launcher maps attacks onto the correct DVWA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On the Guacamole desktop open a terminal: student@guacamole01.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cd ~/fortiweb-lab-traffic &amp;&amp; ./fortiweb-lab-traffic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Choose the web application generator, then the DVWA mapped-attacks campaign.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Let the run finish — do not kill the process early.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Exercise 3.4 is log review; you do not need to click every DVWA page by hand.</a:t>
            </a:r>
          </a:p>
        </p:txBody>
      </p:sp>
      <p:pic>
        <p:nvPicPr>
          <p:cNvPr id="5" name="Picture 4" descr="traffic-launcher-main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82329"/>
            <a:ext cx="5897880" cy="38682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3.4 — Review Blocking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Attack Log shows the protection, action, and payload that fired</a:t>
            </a:r>
          </a:p>
        </p:txBody>
      </p:sp>
      <p:pic>
        <p:nvPicPr>
          <p:cNvPr id="4" name="Picture 3" descr="attack-log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420" y="1207008"/>
            <a:ext cx="5365575" cy="2331720"/>
          </a:xfrm>
          <a:prstGeom prst="rect">
            <a:avLst/>
          </a:prstGeom>
        </p:spPr>
      </p:pic>
      <p:pic>
        <p:nvPicPr>
          <p:cNvPr id="5" name="Picture 4" descr="attack-log-sqli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239691"/>
            <a:ext cx="4937760" cy="2266354"/>
          </a:xfrm>
          <a:prstGeom prst="rect">
            <a:avLst/>
          </a:prstGeom>
        </p:spPr>
      </p:pic>
      <p:pic>
        <p:nvPicPr>
          <p:cNvPr id="6" name="Picture 5" descr="attack-log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758" y="3657600"/>
            <a:ext cx="3934900" cy="2240280"/>
          </a:xfrm>
          <a:prstGeom prst="rect">
            <a:avLst/>
          </a:prstGeom>
        </p:spPr>
      </p:pic>
      <p:pic>
        <p:nvPicPr>
          <p:cNvPr id="7" name="Picture 6" descr="attack-log-analyze-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8377" y="3657600"/>
            <a:ext cx="3948445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4
ML Anomaly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Signatures ask “is this known?” — ML asks “is this normal?”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Signatures vs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Known attacks still matter — ML adds coverage for unseen techniques</a:t>
            </a:r>
          </a:p>
        </p:txBody>
      </p:sp>
      <p:pic>
        <p:nvPicPr>
          <p:cNvPr id="4" name="Picture 3" descr="ml-vs-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Two-Layer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Layer 1 learns this app. Layer 2 classifies whether an anomaly is a threat.</a:t>
            </a:r>
          </a:p>
        </p:txBody>
      </p:sp>
      <p:pic>
        <p:nvPicPr>
          <p:cNvPr id="4" name="Picture 3" descr="ml-two-layer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How FortiWeb ML Classifies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Normal traffic is allowed. Benign anomalies are allowed. Confirmed attacks are blocked.</a:t>
            </a:r>
          </a:p>
        </p:txBody>
      </p:sp>
      <p:pic>
        <p:nvPicPr>
          <p:cNvPr id="4" name="Picture 3" descr="ml-how-it-works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49945"/>
            <a:ext cx="6492240" cy="365188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1325880"/>
          <a:ext cx="4160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011680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21A21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firstname=Mark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Allowed — matches letters/length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firstname=Janette&amp;…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Allowed — unusual, not a threat</a:t>
                      </a:r>
                    </a:p>
                  </a:txBody>
                  <a:tcPr>
                    <a:solidFill>
                      <a:srgbClr val="F4F6F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firstname="SELECT *…"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Blocked — anomaly and attack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3840480"/>
            <a:ext cx="4160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Action in this lab: Alert &amp; Deny.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False-positive control comes from Layer 2, not from turning ML off.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Machine Learning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Collecting → Building → Running. Discarded parameters are excluded from the model.</a:t>
            </a:r>
          </a:p>
        </p:txBody>
      </p:sp>
      <p:pic>
        <p:nvPicPr>
          <p:cNvPr id="4" name="Picture 3" descr="ml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Exercises 4.1–4.2 — Configure and 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Create Anomaly Detection for Juice Shop, lower lab sample counts, then run Standard ML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Edit the juiceshop-DVWA server policy and create Anomaly Detection for juiceshop.fortiweblab.local.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Set Action to Alert &amp; Deny.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In CLI, reduce sample-count thresholds so a classroom run can reach Running in minutes.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Launch the traffic tool → web application generator → Standard ML training (~2,000 realistic Juice Shop requests).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Production learning normally takes days of live traffic. The launcher is a lab accelerator, not a production pattern.</a:t>
            </a:r>
          </a:p>
        </p:txBody>
      </p:sp>
      <p:pic>
        <p:nvPicPr>
          <p:cNvPr id="5" name="Picture 4" descr="new-anomaly-detection-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270802"/>
            <a:ext cx="5577840" cy="2222420"/>
          </a:xfrm>
          <a:prstGeom prst="rect">
            <a:avLst/>
          </a:prstGeom>
        </p:spPr>
      </p:pic>
      <p:pic>
        <p:nvPicPr>
          <p:cNvPr id="6" name="Picture 5" descr="ml-training-ru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212" y="3611880"/>
            <a:ext cx="347869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Exercises 4.3–4.4 — Verify and Attack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Running parameters are enforced. Unexpected Juice Shop traffic should now appear in Attack Logs.</a:t>
            </a:r>
          </a:p>
        </p:txBody>
      </p:sp>
      <p:pic>
        <p:nvPicPr>
          <p:cNvPr id="4" name="Picture 3" descr="ml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55" y="1207008"/>
            <a:ext cx="4081506" cy="2331720"/>
          </a:xfrm>
          <a:prstGeom prst="rect">
            <a:avLst/>
          </a:prstGeom>
        </p:spPr>
      </p:pic>
      <p:pic>
        <p:nvPicPr>
          <p:cNvPr id="5" name="Picture 4" descr="ml-tree-view-ru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208" y="1207008"/>
            <a:ext cx="4882783" cy="2331720"/>
          </a:xfrm>
          <a:prstGeom prst="rect">
            <a:avLst/>
          </a:prstGeom>
        </p:spPr>
      </p:pic>
      <p:pic>
        <p:nvPicPr>
          <p:cNvPr id="6" name="Picture 5" descr="ml-parameter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055" y="3657600"/>
            <a:ext cx="4912305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3720" y="370332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Overview: HMM Learning Progress in Running.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Tree View and Parameter View confirm modeled URLs and parameters.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Then run the unexpected/attack campaign and filter Attack Logs for Machine Learning.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5
API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Discover, learn, and protect the PetStore REST API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Why APIs Need Specialized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APIs expose business logic as JSON — not HTML pages</a:t>
            </a:r>
          </a:p>
        </p:txBody>
      </p:sp>
      <p:pic>
        <p:nvPicPr>
          <p:cNvPr id="4" name="Picture 3" descr="api-security-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528572"/>
            <a:ext cx="64008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280160"/>
            <a:ext cx="4251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Broken authentication and stolen tokens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Broken Object Level Authorization (BOLA)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Excessive data exposure in JSON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Schema violations and malformed payloads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Abuse: stuffing, scraping, rate attacks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FortiWeb combines discovery, OpenAPI validation, learned schema, and ML threat detection.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FortiWeb API Protection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Discovery + schema + ML — not signatures alone</a:t>
            </a:r>
          </a:p>
        </p:txBody>
      </p:sp>
      <p:pic>
        <p:nvPicPr>
          <p:cNvPr id="4" name="Picture 3" descr="fortiweb-api-protection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ML-Based API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Three functions: discover endpoints, learn schema, detect anomalous values</a:t>
            </a:r>
          </a:p>
        </p:txBody>
      </p:sp>
      <p:pic>
        <p:nvPicPr>
          <p:cNvPr id="4" name="Picture 3" descr="ml-api-protection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Exercises 5.1–5.2 — Explore and Learn PetStore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Swagger UI first, then enable API Protection and run PetStore ML Learning</a:t>
            </a:r>
          </a:p>
        </p:txBody>
      </p:sp>
      <p:pic>
        <p:nvPicPr>
          <p:cNvPr id="4" name="Picture 3" descr="petstore-swagger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65" y="1207008"/>
            <a:ext cx="5044965" cy="2286000"/>
          </a:xfrm>
          <a:prstGeom prst="rect">
            <a:avLst/>
          </a:prstGeom>
        </p:spPr>
      </p:pic>
      <p:pic>
        <p:nvPicPr>
          <p:cNvPr id="5" name="Picture 4" descr="new-api-protection-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44" y="1207008"/>
            <a:ext cx="4816592" cy="2286000"/>
          </a:xfrm>
          <a:prstGeom prst="rect">
            <a:avLst/>
          </a:prstGeom>
        </p:spPr>
      </p:pic>
      <p:pic>
        <p:nvPicPr>
          <p:cNvPr id="6" name="Picture 5" descr="petstore-api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554" y="3611880"/>
            <a:ext cx="3775587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3611880"/>
            <a:ext cx="4983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Bookmark: https://petstore.fortiweblab.local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Try GET /pet/findByStatus and POST /store/order.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Set Schema Protection and Threat Detection to Alert &amp; Deny.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Wait until API View shows discovered endpoints and Event Log shows model running.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Exercises 5.3–5.4 — Launch API Attacks and Review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Mapped PetStore attacks produce signature and Machine Learning detections</a:t>
            </a:r>
          </a:p>
        </p:txBody>
      </p:sp>
      <p:pic>
        <p:nvPicPr>
          <p:cNvPr id="4" name="Picture 3" descr="petstore-mapped-attacks-comp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314812"/>
            <a:ext cx="5623560" cy="2070392"/>
          </a:xfrm>
          <a:prstGeom prst="rect">
            <a:avLst/>
          </a:prstGeom>
        </p:spPr>
      </p:pic>
      <p:pic>
        <p:nvPicPr>
          <p:cNvPr id="5" name="Picture 4" descr="attack-log-api-quick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34839"/>
            <a:ext cx="4983480" cy="1630337"/>
          </a:xfrm>
          <a:prstGeom prst="rect">
            <a:avLst/>
          </a:prstGeom>
        </p:spPr>
      </p:pic>
      <p:pic>
        <p:nvPicPr>
          <p:cNvPr id="6" name="Picture 5" descr="attack-log-ml-schema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445" y="3611880"/>
            <a:ext cx="3787805" cy="2286000"/>
          </a:xfrm>
          <a:prstGeom prst="rect">
            <a:avLst/>
          </a:prstGeom>
        </p:spPr>
      </p:pic>
      <p:pic>
        <p:nvPicPr>
          <p:cNvPr id="7" name="Picture 6" descr="learned-api-schema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266" y="3611880"/>
            <a:ext cx="389494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6
MCP Protection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Protocol-aware security for AI tool traffic — no learning phase required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Model Context Protocol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MCP client → FortiWeb → MCP server tools</a:t>
            </a:r>
          </a:p>
        </p:txBody>
      </p:sp>
      <p:pic>
        <p:nvPicPr>
          <p:cNvPr id="4" name="Picture 3" descr="mcp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Why MCP Security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Tools can reach files, data, and enterprise services. Prompts can steer those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29844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31272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Prompt injection / poisoning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38528"/>
            <a:ext cx="31272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Malicious instructions in prompts, tool descriptions, or arguments.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231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82312" y="129844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463040"/>
            <a:ext cx="31272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Unauthorized tool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938528"/>
            <a:ext cx="31272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Tool enumeration and calls the user should not be allowed to make.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29844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63040"/>
            <a:ext cx="31272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Injection in arguments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38528"/>
            <a:ext cx="31272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SQLi, XSS, command injection, and path traversal inside params.arguments.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" y="285292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017520"/>
            <a:ext cx="31272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Schema violations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93008"/>
            <a:ext cx="31272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Malformed JSON-RPC, missing fields, wrong types, oversized payloads.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231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82312" y="2852928"/>
            <a:ext cx="73152" cy="1417320"/>
          </a:xfrm>
          <a:prstGeom prst="rect">
            <a:avLst/>
          </a:prstGeom>
          <a:solidFill>
            <a:srgbClr val="DA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017520"/>
            <a:ext cx="31272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Abuse &amp; exfiltration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493008"/>
            <a:ext cx="31272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Excessive tool calls and attempts to pull sensitive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2852928"/>
            <a:ext cx="73152" cy="1417320"/>
          </a:xfrm>
          <a:prstGeom prst="rect">
            <a:avLst/>
          </a:prstGeom>
          <a:solidFill>
            <a:srgbClr val="906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017520"/>
            <a:ext cx="31272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Immediate enforcement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93008"/>
            <a:ext cx="312724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Unlike ML chapters, MCP Security protects as soon as the policy is applied.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FortiWeb MCP Inspection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Signatures + prompt poisoning + JSON schema validation on Streamable HTTP / SSE</a:t>
            </a:r>
          </a:p>
        </p:txBody>
      </p:sp>
      <p:pic>
        <p:nvPicPr>
          <p:cNvPr id="4" name="Picture 3" descr="fortiweb-mcp-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6.1 — Configure MCP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Rule → policy (Signature, Poisoning, JSON Schema) → Web Protection Profile → server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Create an MCP Security Rule for the lab MCP path.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Create an MCP Security Policy and enable Signature Detection, Prompt Poisoning Protection, and JSON Schema Validation.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Add the rule to the policy.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Create a Web Protection Profile that references MCP Security.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Assign that profile on the MCP server policy and enable Traffic Log.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Protection is live immediately — do not wait for a learning state.</a:t>
            </a:r>
          </a:p>
        </p:txBody>
      </p:sp>
      <p:pic>
        <p:nvPicPr>
          <p:cNvPr id="5" name="Picture 4" descr="new-mcp-security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2050"/>
            <a:ext cx="5897880" cy="256880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6.2 — Legitimate MCP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Use the AI Agent student view to call weather, time, inventory, currency, and calculator tools</a:t>
            </a:r>
          </a:p>
        </p:txBody>
      </p:sp>
      <p:pic>
        <p:nvPicPr>
          <p:cNvPr id="4" name="Picture 3" descr="ai-agen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56" y="1207008"/>
            <a:ext cx="4310983" cy="2286000"/>
          </a:xfrm>
          <a:prstGeom prst="rect">
            <a:avLst/>
          </a:prstGeom>
        </p:spPr>
      </p:pic>
      <p:pic>
        <p:nvPicPr>
          <p:cNvPr id="5" name="Picture 4" descr="ai-agent-weather-tool-de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16" y="1207008"/>
            <a:ext cx="4351048" cy="2286000"/>
          </a:xfrm>
          <a:prstGeom prst="rect">
            <a:avLst/>
          </a:prstGeom>
        </p:spPr>
      </p:pic>
      <p:pic>
        <p:nvPicPr>
          <p:cNvPr id="6" name="Picture 5" descr="mcp-traffic-log-legiti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706" y="3611880"/>
            <a:ext cx="4367283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3611880"/>
            <a:ext cx="4983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Confirm the protected path is connected.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Instructor scenario should be Normal / ACTIVE.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Traffic Log: MCP posts to mcp.fortiweblab.local/mcp.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Capture the session ID — useful when you correlate Attack Logs next.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6.3 — Launch MCP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Instructor scenarios: command attack, SQL injection, invalid schema, oversized payload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3444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i-agent-instructor-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55" y="1307592"/>
            <a:ext cx="3312954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6736" y="3081528"/>
            <a:ext cx="4983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Instructor scenario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112" y="123444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-agent-command-attack-bloc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681" y="1307592"/>
            <a:ext cx="3300661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57416" y="3081528"/>
            <a:ext cx="4983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Command attack blocked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356616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i-agent-sql-injection-blo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001" y="3639312"/>
            <a:ext cx="3300661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6736" y="5413248"/>
            <a:ext cx="4983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SQL injection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1112" y="3566160"/>
            <a:ext cx="5257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-agent-invalid-schema-res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535" y="3639312"/>
            <a:ext cx="3312954" cy="1737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57416" y="5413248"/>
            <a:ext cx="4983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Invalid schema — null tool result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6.4 — Review MCP Attack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Alert_Deny events should show MCP policy hits for XSS, SQLi, and related tool arguments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Open Log&amp;Report → Log Access → Attack and filter on the MCP policy.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Match timestamps to the instructor scenarios you just ran.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Open SQL Injection and XSS details — payloads live in MCP tool parameters.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Traffic Log still shows the MCP POST; Attack Log explains why it was denied.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Reset instructor mode to Normal when you finish so later chapters see a clean agent.</a:t>
            </a:r>
          </a:p>
        </p:txBody>
      </p:sp>
      <p:pic>
        <p:nvPicPr>
          <p:cNvPr id="5" name="Picture 4" descr="mcp-attack-log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602754"/>
            <a:ext cx="5897880" cy="202739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7
Bot Mitigation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Layered detection: biometrics, thresholds, known bots, and ML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Legitimate vs Malicious Bots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Nearly half of internet traffic is automated — not all of it should be blocked</a:t>
            </a:r>
          </a:p>
        </p:txBody>
      </p:sp>
      <p:pic>
        <p:nvPicPr>
          <p:cNvPr id="4" name="Picture 3" descr="bot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170432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FortiWeb Bot Mitigation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No single engine covers every bot — the lab stacks four controls on Juice Shop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298448"/>
            <a:ext cx="73152" cy="14173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31272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Biometrics-based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Mouse, keyboard, touch, focus, and scroll events distinguish humans from scripts.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8231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82312" y="1298448"/>
            <a:ext cx="73152" cy="14173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1463040"/>
            <a:ext cx="31272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Threshold-based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920240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Rate, scanning, crawling, and scraping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192" y="129844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298448"/>
            <a:ext cx="73152" cy="14173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63040"/>
            <a:ext cx="31272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Known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FortiGuard classifies Known Good, Likely Good, and Malicious bots.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" y="2852928"/>
            <a:ext cx="73152" cy="14173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017520"/>
            <a:ext cx="31272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ML-based bot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Models normal client behavior and spots anomalous automation.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8231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82312" y="2852928"/>
            <a:ext cx="73152" cy="14173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017520"/>
            <a:ext cx="31272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Bot deception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474720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Hidden client-side traps for automated clients (concept; not the primary lab signal).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94192" y="2852928"/>
            <a:ext cx="34747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94192" y="2852928"/>
            <a:ext cx="73152" cy="1417320"/>
          </a:xfrm>
          <a:prstGeom prst="rect">
            <a:avLst/>
          </a:prstGeom>
          <a:solidFill>
            <a:srgbClr val="2CC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017520"/>
            <a:ext cx="3127248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Arial"/>
              </a:rPr>
              <a:t>Lab expectation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74720"/>
            <a:ext cx="3127248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5B5B"/>
                </a:solidFill>
                <a:latin typeface="Arial"/>
              </a:rPr>
              <a:t>Known Bots and Threshold findings are the main events in a short classroom run.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7.1 — Configure Bot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Build juiceshop biometrics, threshold, known-bots, then a Bot Mitigation Policy and WPP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Create Biometrics, Threshold, and Known Bots objects named for juiceshop.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Combine them in Bot Mitigation Policy juiceshop.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Create Inline Protection Profile juiceshop with that policy.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Assign the profile on the juiceshop content-routing entry of juiceshop-DVWA.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Optionally enable ML Bot Detection on the same server policy.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Save the policy before generating traffic.</a:t>
            </a:r>
          </a:p>
        </p:txBody>
      </p:sp>
      <p:pic>
        <p:nvPicPr>
          <p:cNvPr id="5" name="Picture 4" descr="bot-mitigation-policy-juice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96200"/>
            <a:ext cx="5897880" cy="224050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Exercises 7.2–7.3 — Generate and Review Bot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Option 6 = realistic browsing baseline. Option 13 = bot campaign.</a:t>
            </a:r>
          </a:p>
        </p:txBody>
      </p:sp>
      <p:pic>
        <p:nvPicPr>
          <p:cNvPr id="4" name="Picture 3" descr="traffic-log-brow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093" y="1207008"/>
            <a:ext cx="4846509" cy="2286000"/>
          </a:xfrm>
          <a:prstGeom prst="rect">
            <a:avLst/>
          </a:prstGeom>
        </p:spPr>
      </p:pic>
      <p:pic>
        <p:nvPicPr>
          <p:cNvPr id="5" name="Picture 4" descr="attack-log-known-b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813" y="1207008"/>
            <a:ext cx="4757853" cy="2286000"/>
          </a:xfrm>
          <a:prstGeom prst="rect">
            <a:avLst/>
          </a:prstGeom>
        </p:spPr>
      </p:pic>
      <p:pic>
        <p:nvPicPr>
          <p:cNvPr id="6" name="Picture 5" descr="attack-log-threshold-scra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161770"/>
            <a:ext cx="5623560" cy="11862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3611880"/>
            <a:ext cx="4983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Browsing should be 200 in Traffic Log.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Bot run: Known Bots (for example masscan) and Threshold / Content Scraping.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•  Map each event to the engine that produced it before changing thresholds.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Chapter 8
Operations &amp; Logging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Optional chapter — reuse events from earlier labs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FortiWeb Log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Log&amp;Report → Log Access → Attack, Event, or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Attack Log: which protection detected the request and what action was taken.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Traffic Log: request flow, host, URL, and response status.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Event Log: admin activity, configuration changes, updates, and ML lifecycle messages.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Investigation order: confirm the Traffic Log row, then open the matching Attack Log, then change the smallest justified setting.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Retest both legitimate and malicious traffic after every change.</a:t>
            </a:r>
          </a:p>
        </p:txBody>
      </p:sp>
      <p:pic>
        <p:nvPicPr>
          <p:cNvPr id="5" name="Picture 4" descr="fortiweb-log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146" y="1261872"/>
            <a:ext cx="157222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Investigate Across Web, API, and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Same workflow, different protections — always identify the exact sensor before tuning</a:t>
            </a:r>
          </a:p>
        </p:txBody>
      </p:sp>
      <p:pic>
        <p:nvPicPr>
          <p:cNvPr id="4" name="Picture 3" descr="operations-attack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275253"/>
            <a:ext cx="3703320" cy="2195229"/>
          </a:xfrm>
          <a:prstGeom prst="rect">
            <a:avLst/>
          </a:prstGeom>
        </p:spPr>
      </p:pic>
      <p:pic>
        <p:nvPicPr>
          <p:cNvPr id="5" name="Picture 4" descr="operations-traffic-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39770"/>
            <a:ext cx="3520440" cy="2066195"/>
          </a:xfrm>
          <a:prstGeom prst="rect">
            <a:avLst/>
          </a:prstGeom>
        </p:spPr>
      </p:pic>
      <p:pic>
        <p:nvPicPr>
          <p:cNvPr id="6" name="Picture 5" descr="operations-event-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410761"/>
            <a:ext cx="3246120" cy="1924213"/>
          </a:xfrm>
          <a:prstGeom prst="rect">
            <a:avLst/>
          </a:prstGeom>
        </p:spPr>
      </p:pic>
      <p:pic>
        <p:nvPicPr>
          <p:cNvPr id="7" name="Picture 6" descr="investigate-dvwa-sql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946" y="3703320"/>
            <a:ext cx="3624563" cy="2194560"/>
          </a:xfrm>
          <a:prstGeom prst="rect">
            <a:avLst/>
          </a:prstGeom>
        </p:spPr>
      </p:pic>
      <p:pic>
        <p:nvPicPr>
          <p:cNvPr id="8" name="Picture 7" descr="investigate-api-ev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36561"/>
            <a:ext cx="3520440" cy="2128078"/>
          </a:xfrm>
          <a:prstGeom prst="rect">
            <a:avLst/>
          </a:prstGeom>
        </p:spPr>
      </p:pic>
      <p:pic>
        <p:nvPicPr>
          <p:cNvPr id="9" name="Picture 8" descr="investigate-mcp-ev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3817888"/>
            <a:ext cx="3246120" cy="196542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Tune Policies with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Prefer a scoped exception over disabling a signature globally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Open a Signature Detection event and note the Signature ID.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Use the log details action menu — do not guess from the summary row.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If a false positive is confirmed, add a narrowly scoped URL exception.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Never turn off an entire category to fix one path.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Document the change and retest the original attack plus a legitimate request.</a:t>
            </a:r>
          </a:p>
        </p:txBody>
      </p:sp>
      <p:pic>
        <p:nvPicPr>
          <p:cNvPr id="5" name="Picture 4" descr="scoped-policy-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83592"/>
            <a:ext cx="5897880" cy="32657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Exercise 8.4 — Troubleshooting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 DVWA login returns 404. Find where the request stopped before changing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1261872"/>
            <a:ext cx="4709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Verify DNS, host name, and that the browser reached the virtual server.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Traffic Log: does FortiWeb see the request, and what status did it return?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Attack Log: Threshold Based Detection / Content Scraping is a common lab cause.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FortiView Topology and the Status dashboard rule out pool and license issues.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Arial"/>
              </a:rPr>
              <a:t>•  Make the smallest justified change, then retest.</a:t>
            </a:r>
          </a:p>
        </p:txBody>
      </p:sp>
      <p:pic>
        <p:nvPicPr>
          <p:cNvPr id="5" name="Picture 4" descr="troubleshooting-client-symp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62935"/>
            <a:ext cx="5897880" cy="270703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Lab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600">
                <a:solidFill>
                  <a:srgbClr val="FFFFFF"/>
                </a:solidFill>
                <a:latin typeface="Arial"/>
              </a:rPr>
              <a:t>What you deployed, protected, and proved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What You Accomplished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 complete path from Terraform deploy to evidence-based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61872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16736" y="15544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7" y="1517904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Deployed the Azure lab and restored FortiWeb 8.0.5.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112" y="1261872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57416" y="155448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53527" y="1517904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Mapped virtual servers, SSL offload, and content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340864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16736" y="263347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7" y="2596896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Blocked common attacks on DVWA with a Web Protection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11112" y="2340864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57416" y="263347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7" y="2596896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Trained Juice Shop ML and enforced Alert &amp; Deny on anomalies.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3419856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16736" y="3712464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7" y="3675888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Discovered PetStore APIs and blocked mapped API attacks.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1112" y="3419856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57416" y="3712464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3675888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Protected MCP tool calls with signatures, poisoning, and schema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" y="4498848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16736" y="479145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7" y="4754880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Separated human browsing from known bots and scrapers.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4498848"/>
            <a:ext cx="52852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57416" y="479145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Ch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4754880"/>
            <a:ext cx="4069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Investigated Attack/Traffic/Event logs and practiced scoped tuning.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1A1A1A"/>
                </a:solidFill>
                <a:latin typeface="Arial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822960"/>
            <a:ext cx="1083564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Carry these patterns back to real FortiWeb deployments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0432" y="1261872"/>
            <a:ext cx="52852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261872"/>
            <a:ext cx="73152" cy="1298448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26464" y="1408176"/>
            <a:ext cx="4846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Security in the delivery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764792"/>
            <a:ext cx="48463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Load balancing and TLS offload are how inspection happens — not a separate box beside the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11112" y="1261872"/>
            <a:ext cx="52852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11112" y="1261872"/>
            <a:ext cx="73152" cy="1298448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67144" y="1408176"/>
            <a:ext cx="4846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Profiles over one-off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1764792"/>
            <a:ext cx="48463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Web Protection Profiles keep signatures, protocol, bot, and MCP controls reusable per application.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2679192"/>
            <a:ext cx="52852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2679192"/>
            <a:ext cx="73152" cy="1298448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2825496"/>
            <a:ext cx="4846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Learn what normal looks 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182112"/>
            <a:ext cx="48463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ML for apps and APIs catches techniques that signatures do not yet describe.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1112" y="2679192"/>
            <a:ext cx="52852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11112" y="2679192"/>
            <a:ext cx="73152" cy="1298448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825496"/>
            <a:ext cx="4846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MCP is immediate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3182112"/>
            <a:ext cx="48463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AI tool traffic is JSON-RPC. Enable protocol-aware MCP Security; do not wait for a learning window.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70432" y="4096512"/>
            <a:ext cx="52852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0432" y="4096512"/>
            <a:ext cx="73152" cy="1298448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26464" y="4242816"/>
            <a:ext cx="4846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Prove it in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4599432"/>
            <a:ext cx="48463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Every control is incomplete until Traffic and Attack logs show allow vs deny with the right sensor name.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1112" y="4096512"/>
            <a:ext cx="528523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11112" y="4096512"/>
            <a:ext cx="73152" cy="1298448"/>
          </a:xfrm>
          <a:prstGeom prst="rect">
            <a:avLst/>
          </a:prstGeom>
          <a:solidFill>
            <a:srgbClr val="48D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4" y="4242816"/>
            <a:ext cx="48463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Arial"/>
              </a:rPr>
              <a:t>Tune narrowly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4599432"/>
            <a:ext cx="48463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5B5B"/>
                </a:solidFill>
                <a:latin typeface="Arial"/>
              </a:rPr>
              <a:t>Exceptions should be URL- and signature-specific. Broad disables recreate the baseline you started with.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Protecting Modern Applications, APIs, and MCP Services with FortiWeb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48D597"/>
                </a:solidFill>
                <a:latin typeface="Arial"/>
              </a:rPr>
              <a:t>Hands-on Training Lab  |  FortiWeb 8.0.5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Fortinet Theme">
  <a:themeElements>
    <a:clrScheme name="Fortinet-2021">
      <a:dk1>
        <a:srgbClr val="000000"/>
      </a:dk1>
      <a:lt1>
        <a:srgbClr val="FFFFFF"/>
      </a:lt1>
      <a:dk2>
        <a:srgbClr val="B3B3B3"/>
      </a:dk2>
      <a:lt2>
        <a:srgbClr val="E6E6E6"/>
      </a:lt2>
      <a:accent1>
        <a:srgbClr val="48D597"/>
      </a:accent1>
      <a:accent2>
        <a:srgbClr val="2CCCD3"/>
      </a:accent2>
      <a:accent3>
        <a:srgbClr val="307FE2"/>
      </a:accent3>
      <a:accent4>
        <a:srgbClr val="9063CD"/>
      </a:accent4>
      <a:accent5>
        <a:srgbClr val="A2B2C8"/>
      </a:accent5>
      <a:accent6>
        <a:srgbClr val="DA281C"/>
      </a:accent6>
      <a:hlink>
        <a:srgbClr val="0081E9"/>
      </a:hlink>
      <a:folHlink>
        <a:srgbClr val="307FE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solidFill>
            <a:schemeClr val="accent6"/>
          </a:solidFill>
        </a:ln>
      </a:spPr>
      <a:bodyPr rtlCol="0" anchor="ctr"/>
      <a:lstStyle>
        <a:defPPr algn="ctr">
          <a:lnSpc>
            <a:spcPct val="90000"/>
          </a:lnSpc>
          <a:spcBef>
            <a:spcPts val="300"/>
          </a:spcBef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 defTabSz="457189">
          <a:lnSpc>
            <a:spcPct val="90000"/>
          </a:lnSpc>
          <a:spcBef>
            <a:spcPts val="300"/>
          </a:spcBef>
          <a:defRPr sz="1400" dirty="0" smtClean="0">
            <a:solidFill>
              <a:srgbClr val="000000"/>
            </a:solidFill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TNT_PPT_16x9_Light_Template" id="{E2927C15-4D51-1141-9B5B-3E5EBD9E1F19}" vid="{E613442D-DD53-974C-8910-4A1CD2C115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5b5842-c199-4f78-b51f-591a57e7bb2b">
      <Terms xmlns="http://schemas.microsoft.com/office/infopath/2007/PartnerControls"/>
    </lcf76f155ced4ddcb4097134ff3c332f>
    <TaxCatchAll xmlns="bcbac138-1889-45ac-863a-d6d3b7fc631d" xsi:nil="true"/>
    <SharedWithUsers xmlns="bcbac138-1889-45ac-863a-d6d3b7fc631d">
      <UserInfo>
        <DisplayName>Idan Soen</DisplayName>
        <AccountId>18</AccountId>
        <AccountType/>
      </UserInfo>
    </SharedWithUsers>
    <GroupTag xmlns="045b5842-c199-4f78-b51f-591a57e7bb2b" xsi:nil="true"/>
    <ContentCategory xmlns="045b5842-c199-4f78-b51f-591a57e7bb2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CF52A6827C9444B48E3FB1946F0E93" ma:contentTypeVersion="20" ma:contentTypeDescription="Create a new document." ma:contentTypeScope="" ma:versionID="b6477b803f19439865744c90f7a735e8">
  <xsd:schema xmlns:xsd="http://www.w3.org/2001/XMLSchema" xmlns:xs="http://www.w3.org/2001/XMLSchema" xmlns:p="http://schemas.microsoft.com/office/2006/metadata/properties" xmlns:ns2="045b5842-c199-4f78-b51f-591a57e7bb2b" xmlns:ns3="bcbac138-1889-45ac-863a-d6d3b7fc631d" targetNamespace="http://schemas.microsoft.com/office/2006/metadata/properties" ma:root="true" ma:fieldsID="88ee11c546426a8da01013b9297a531d" ns2:_="" ns3:_="">
    <xsd:import namespace="045b5842-c199-4f78-b51f-591a57e7bb2b"/>
    <xsd:import namespace="bcbac138-1889-45ac-863a-d6d3b7fc63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GroupTag" minOccurs="0"/>
                <xsd:element ref="ns2:MediaServiceBillingMetadata" minOccurs="0"/>
                <xsd:element ref="ns2:Content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b5842-c199-4f78-b51f-591a57e7bb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37c7e1d-08f1-45b1-b725-95e43607a7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GroupTag" ma:index="25" nillable="true" ma:displayName="Group Tag" ma:format="Dropdown" ma:internalName="GroupTag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Hybrid Mesh Firewall"/>
                    <xsd:enumeration value="NOC Management"/>
                    <xsd:enumeration value="Unified SASE"/>
                    <xsd:enumeration value="LAN Edge"/>
                    <xsd:enumeration value="FortiGuard Security Services"/>
                    <xsd:enumeration value="SecOps"/>
                    <xsd:enumeration value="Cloud Security"/>
                    <xsd:enumeration value="Key Solutions"/>
                    <xsd:enumeration value="Data Security"/>
                    <xsd:enumeration value="FortiCare"/>
                    <xsd:enumeration value="Choice 11"/>
                  </xsd:restriction>
                </xsd:simple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ContentCategory" ma:index="27" nillable="true" ma:displayName="Content Category" ma:format="Dropdown" ma:internalName="ContentCategory">
      <xsd:simpleType>
        <xsd:restriction base="dms:Choice">
          <xsd:enumeration value="Sales Deck Recording"/>
          <xsd:enumeration value="Choice 2"/>
          <xsd:enumeration value="Choice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ac138-1889-45ac-863a-d6d3b7fc631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0292957-d0c4-430e-a25d-1591601dfc06}" ma:internalName="TaxCatchAll" ma:showField="CatchAllData" ma:web="bcbac138-1889-45ac-863a-d6d3b7fc63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66213C-F239-4D19-AD1A-630351EA9035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045b5842-c199-4f78-b51f-591a57e7bb2b"/>
    <ds:schemaRef ds:uri="http://schemas.microsoft.com/office/2006/metadata/properties"/>
    <ds:schemaRef ds:uri="http://purl.org/dc/elements/1.1/"/>
    <ds:schemaRef ds:uri="bcbac138-1889-45ac-863a-d6d3b7fc631d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8B97247-5A71-4DAA-A6A7-A9C893B34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40D701-7ED0-49A4-8074-D85EE278BB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5b5842-c199-4f78-b51f-591a57e7bb2b"/>
    <ds:schemaRef ds:uri="bcbac138-1889-45ac-863a-d6d3b7fc63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3073</Words>
  <Application>Microsoft Office PowerPoint</Application>
  <PresentationFormat>Widescreen</PresentationFormat>
  <Paragraphs>503</Paragraphs>
  <Slides>31</Slides>
  <Notes>25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1_Fortinet Theme</vt:lpstr>
      <vt:lpstr>Web Application Security,  Availability And Performance – Unified</vt:lpstr>
      <vt:lpstr>Agenda</vt:lpstr>
      <vt:lpstr>Challenges in Securing Modern Applications</vt:lpstr>
      <vt:lpstr>Modern Applications Architectures Create Blind Spots</vt:lpstr>
      <vt:lpstr>WAF to WAAP: The Application Attack Surface Keeps Growing </vt:lpstr>
      <vt:lpstr>Solution Fundamentals to Address Critical Use-Cases</vt:lpstr>
      <vt:lpstr>PowerPoint Presentation</vt:lpstr>
      <vt:lpstr>AI-Powered Web Application Protection</vt:lpstr>
      <vt:lpstr>Web Application Security</vt:lpstr>
      <vt:lpstr>ML-Driven Highly Accurate Threat Detection</vt:lpstr>
      <vt:lpstr>Biometric, Behavioral, ML-Based Bot Mitigation</vt:lpstr>
      <vt:lpstr>Client-side Protection: Meet Compliance Requirements</vt:lpstr>
      <vt:lpstr>FortiWeb MCP Protection</vt:lpstr>
      <vt:lpstr>Threat Analytics: Simplify Threat Detection and Response</vt:lpstr>
      <vt:lpstr>Threat Intelligence Security Services</vt:lpstr>
      <vt:lpstr>FortiAI Assistant</vt:lpstr>
      <vt:lpstr>FortiAI Assistant</vt:lpstr>
      <vt:lpstr>FortiAppSec Cloud FortiAI-Assist Add-on</vt:lpstr>
      <vt:lpstr>FortiAI-Assist Boosts Productivity and Saves Costs</vt:lpstr>
      <vt:lpstr>Deployment Architectures and Licensing</vt:lpstr>
      <vt:lpstr>Flexible Deployment and Consumption Modes</vt:lpstr>
      <vt:lpstr>FortiWeb Advanced Security Bundles</vt:lpstr>
      <vt:lpstr>FortiWeb SOC-as-a-Service</vt:lpstr>
      <vt:lpstr>Security Fabric Integrations for Multi-Layered Defense</vt:lpstr>
      <vt:lpstr>Summary</vt:lpstr>
      <vt:lpstr>Business Benefits</vt:lpstr>
      <vt:lpstr>Fortinet is a Leader in SecureIQLabs WAAP Test</vt:lpstr>
      <vt:lpstr>Gartner Peer Insights Cloud WAAP Customer Choice</vt:lpstr>
      <vt:lpstr>PowerPoint Presentation</vt:lpstr>
      <vt:lpstr>FortiWeb Protects Applications Using GenAI and LLM Data</vt:lpstr>
      <vt:lpstr>LLM &amp; MCP Protection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Protecting Modern Applications, APIs, and MCP Services with FortiWeb</dc:title>
  <dc:creator>Fortinet</dc:creator>
  <cp:lastModifiedBy>Ben Zilberman</cp:lastModifiedBy>
  <cp:revision>6</cp:revision>
  <cp:lastPrinted>2024-01-18T22:57:10Z</cp:lastPrinted>
  <dcterms:created xsi:type="dcterms:W3CDTF">2022-02-14T23:16:15Z</dcterms:created>
  <dcterms:modified xsi:type="dcterms:W3CDTF">2026-08-25T03:17:36Z</dcterms:modified>
  <dc:subject>Hands-on Training Lab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0x01010020CF52A6827C9444B48E3FB1946F0E93</vt:lpwstr>
  </property>
</Properties>
</file>